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5088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Img"/>
          </p:nvPr>
        </p:nvSpPr>
        <p:spPr>
          <a:xfrm>
            <a:off x="533520" y="763200"/>
            <a:ext cx="6702480" cy="377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777960" y="4776840"/>
            <a:ext cx="6216480" cy="452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hdr"/>
          </p:nvPr>
        </p:nvSpPr>
        <p:spPr>
          <a:xfrm>
            <a:off x="0" y="-360"/>
            <a:ext cx="3371760" cy="5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1"/>
          </p:nvPr>
        </p:nvSpPr>
        <p:spPr>
          <a:xfrm>
            <a:off x="4398480" y="-360"/>
            <a:ext cx="3372120" cy="50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ftr" idx="2"/>
          </p:nvPr>
        </p:nvSpPr>
        <p:spPr>
          <a:xfrm>
            <a:off x="0" y="9555120"/>
            <a:ext cx="3371760" cy="5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6"/>
          <p:cNvSpPr>
            <a:spLocks noGrp="1"/>
          </p:cNvSpPr>
          <p:nvPr>
            <p:ph type="sldNum" idx="3"/>
          </p:nvPr>
        </p:nvSpPr>
        <p:spPr>
          <a:xfrm>
            <a:off x="439848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6D288D42-0BE9-482D-AEB3-1C890E42D8A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DBEDE109-0721-410B-8FC9-CDB935444BA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5F31691F-EF81-4D1D-90FD-A6C74CCD873F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517DC5B9-D602-4D5E-B0C6-7DD6AEA8C329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425AAD7B-5C3E-4A2C-8B61-0B910C4A34DA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E761A136-AE4C-4A6E-B4F8-5D67D8D5E90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0A286603-2ABB-4192-80E0-FB6D79AD9043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4AEF8925-58FA-42F6-869B-312E9426978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BE0AD168-4877-49FB-9C10-7221157F6720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14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0B2376C9-3F7B-4F1D-97ED-ED62C04D11DE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181CC699-687B-429B-9070-AD7CE3F76D06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E8054813-841B-4B78-A50E-4A6765760B47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9D716714-DCD4-4A49-8A6E-1F3CAF7CAE18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26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Rectangle 6"/>
          <p:cNvSpPr/>
          <p:nvPr/>
        </p:nvSpPr>
        <p:spPr>
          <a:xfrm>
            <a:off x="4398840" y="9555120"/>
            <a:ext cx="33721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fld id="{486C16B0-CA02-4876-A9A5-5DC297E0796D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533520" y="763560"/>
            <a:ext cx="6703920" cy="377208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77600" y="4776840"/>
            <a:ext cx="621828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4480"/>
            <a:ext cx="822816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8160" cy="2981160"/>
          </a:xfrm>
          <a:prstGeom prst="rect">
            <a:avLst/>
          </a:prstGeom>
          <a:noFill/>
          <a:ln w="0">
            <a:noFill/>
          </a:ln>
        </p:spPr>
        <p:txBody>
          <a:bodyPr lIns="0" rIns="0" tIns="28440" bIns="0" anchor="t">
            <a:normAutofit fontScale="56244"/>
          </a:bodyPr>
          <a:p>
            <a:pPr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2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3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4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5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6" marL="343080" indent="-343080">
              <a:lnSpc>
                <a:spcPct val="93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"/>
          <p:cNvSpPr/>
          <p:nvPr/>
        </p:nvSpPr>
        <p:spPr>
          <a:xfrm>
            <a:off x="7726320" y="-274680"/>
            <a:ext cx="1736640" cy="32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84680" bIns="45000" anchor="t">
            <a:noAutofit/>
          </a:bodyPr>
          <a:p>
            <a:pPr rtl="1">
              <a:lnSpc>
                <a:spcPct val="95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22000" spc="-1" strike="noStrike">
                <a:solidFill>
                  <a:srgbClr val="0fb981"/>
                </a:solidFill>
                <a:latin typeface="Georgia"/>
                <a:ea typeface="Georgia"/>
              </a:rPr>
              <a:t>/</a:t>
            </a:r>
            <a:endParaRPr b="0" lang="en-US" sz="2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Box 2"/>
          <p:cNvSpPr/>
          <p:nvPr/>
        </p:nvSpPr>
        <p:spPr>
          <a:xfrm>
            <a:off x="549360" y="503280"/>
            <a:ext cx="297180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КОМПЛЕКСНЫЙ МАРКЕТИНГ ДЛЯ БИЗНЕСА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Freeform 3"/>
          <p:cNvSpPr/>
          <p:nvPr/>
        </p:nvSpPr>
        <p:spPr>
          <a:xfrm>
            <a:off x="549360" y="914400"/>
            <a:ext cx="1371600" cy="239760"/>
          </a:xfrm>
          <a:custGeom>
            <a:avLst/>
            <a:gdLst/>
            <a:ahLst/>
            <a:rect l="l" t="t" r="r" b="b"/>
            <a:pathLst>
              <a:path w="3812" h="815">
                <a:moveTo>
                  <a:pt x="0" y="0"/>
                </a:moveTo>
                <a:lnTo>
                  <a:pt x="3811" y="0"/>
                </a:lnTo>
                <a:lnTo>
                  <a:pt x="3811" y="814"/>
                </a:lnTo>
                <a:lnTo>
                  <a:pt x="0" y="814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Box 4"/>
          <p:cNvSpPr/>
          <p:nvPr/>
        </p:nvSpPr>
        <p:spPr>
          <a:xfrm>
            <a:off x="549360" y="914400"/>
            <a:ext cx="1371600" cy="2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91913"/>
                </a:solidFill>
                <a:latin typeface="Calibri-Bold"/>
                <a:ea typeface="Calibri-Bold"/>
              </a:rPr>
              <a:t>COMPLEX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Text Box 5"/>
          <p:cNvSpPr/>
          <p:nvPr/>
        </p:nvSpPr>
        <p:spPr>
          <a:xfrm>
            <a:off x="549360" y="1554120"/>
            <a:ext cx="8047080" cy="219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2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Один партнёр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вместо пяти подрядчиков</a:t>
            </a:r>
            <a:r>
              <a:rPr b="1" lang="en-US" sz="4200" spc="-1" strike="noStrike">
                <a:solidFill>
                  <a:srgbClr val="ffffff"/>
                </a:solidFill>
                <a:latin typeface="Calibri-Bold"/>
                <a:ea typeface="Calibri-Bold"/>
              </a:rPr>
              <a:t> —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и минус 30% к бюджету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Box 6"/>
          <p:cNvSpPr/>
          <p:nvPr/>
        </p:nvSpPr>
        <p:spPr>
          <a:xfrm>
            <a:off x="549360" y="3886200"/>
            <a:ext cx="804708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95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600" spc="-1" strike="noStrike">
                <a:solidFill>
                  <a:srgbClr val="9dafa5"/>
                </a:solidFill>
                <a:latin typeface="Calibri"/>
                <a:ea typeface="Calibri"/>
              </a:rPr>
              <a:t>Стратегия, бренд, performance, контент, аналитика — в одной команде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600" spc="-1" strike="noStrike">
                <a:solidFill>
                  <a:srgbClr val="9dafa5"/>
                </a:solidFill>
                <a:latin typeface="Calibri"/>
                <a:ea typeface="Calibri"/>
              </a:rPr>
              <a:t>с единым ТЗ, единым P&amp;L и единой ответственностью за результат</a:t>
            </a:r>
            <a:r>
              <a:rPr b="0" lang="en-US" sz="1600" spc="-1" strike="noStrike">
                <a:solidFill>
                  <a:srgbClr val="9dafa5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Line 7"/>
          <p:cNvSpPr/>
          <p:nvPr/>
        </p:nvSpPr>
        <p:spPr>
          <a:xfrm>
            <a:off x="549360" y="4708440"/>
            <a:ext cx="8047080" cy="1800"/>
          </a:xfrm>
          <a:prstGeom prst="line">
            <a:avLst/>
          </a:prstGeom>
          <a:ln w="1260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Box 8"/>
          <p:cNvSpPr/>
          <p:nvPr/>
        </p:nvSpPr>
        <p:spPr>
          <a:xfrm>
            <a:off x="549360" y="4800600"/>
            <a:ext cx="80470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ДВОЙНИКОВ МАРКЕТИНГ ·  ПРОДУКТ «КОМПЛЕКС»  ·  АПРЕЛЬ 2026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Freeform 9"/>
          <p:cNvSpPr/>
          <p:nvPr/>
        </p:nvSpPr>
        <p:spPr>
          <a:xfrm>
            <a:off x="3521160" y="914400"/>
            <a:ext cx="1371600" cy="293760"/>
          </a:xfrm>
          <a:custGeom>
            <a:avLst/>
            <a:gdLst/>
            <a:ahLst/>
            <a:rect l="l" t="t" r="r" b="b"/>
            <a:pathLst>
              <a:path w="3812" h="815">
                <a:moveTo>
                  <a:pt x="0" y="0"/>
                </a:moveTo>
                <a:lnTo>
                  <a:pt x="3811" y="0"/>
                </a:lnTo>
                <a:lnTo>
                  <a:pt x="3811" y="814"/>
                </a:lnTo>
                <a:lnTo>
                  <a:pt x="0" y="814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Box 10"/>
          <p:cNvSpPr/>
          <p:nvPr/>
        </p:nvSpPr>
        <p:spPr>
          <a:xfrm>
            <a:off x="3521160" y="939960"/>
            <a:ext cx="137160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91913"/>
                </a:solidFill>
                <a:latin typeface="Calibri-Bold"/>
                <a:ea typeface="Calibri-Bold"/>
              </a:rPr>
              <a:t>DVOYNIKOV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11" descr=""/>
          <p:cNvPicPr/>
          <p:nvPr/>
        </p:nvPicPr>
        <p:blipFill>
          <a:blip r:embed="rId1"/>
          <a:stretch/>
        </p:blipFill>
        <p:spPr>
          <a:xfrm>
            <a:off x="7758000" y="3832200"/>
            <a:ext cx="1397160" cy="1395360"/>
          </a:xfrm>
          <a:prstGeom prst="rect">
            <a:avLst/>
          </a:prstGeom>
          <a:ln w="0">
            <a:noFill/>
          </a:ln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ЗНАКОМАЯ СИТУАЦИЯ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Box 2"/>
          <p:cNvSpPr/>
          <p:nvPr/>
        </p:nvSpPr>
        <p:spPr>
          <a:xfrm>
            <a:off x="457200" y="639720"/>
            <a:ext cx="822960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Когда у вас 5 подрядчиков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 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у вас нет ни одного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02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Box 4"/>
          <p:cNvSpPr/>
          <p:nvPr/>
        </p:nvSpPr>
        <p:spPr>
          <a:xfrm>
            <a:off x="457200" y="1782720"/>
            <a:ext cx="393228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63746c"/>
                </a:solidFill>
                <a:latin typeface="Calibri-Bold"/>
                <a:ea typeface="Calibri-Bold"/>
              </a:rPr>
              <a:t>ВАШ ТЕКУЩИЙ МАРКЕТИНГ</a:t>
            </a:r>
            <a:r>
              <a:rPr b="1" lang="en-US" sz="1100" spc="-1" strike="noStrike">
                <a:solidFill>
                  <a:srgbClr val="63746c"/>
                </a:solidFill>
                <a:latin typeface="Calibri-Bold"/>
                <a:ea typeface="Calibri-Bold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Line 5"/>
          <p:cNvSpPr/>
          <p:nvPr/>
        </p:nvSpPr>
        <p:spPr>
          <a:xfrm>
            <a:off x="2378160" y="2239920"/>
            <a:ext cx="1440" cy="1463760"/>
          </a:xfrm>
          <a:prstGeom prst="line">
            <a:avLst/>
          </a:prstGeom>
          <a:ln w="9360">
            <a:solidFill>
              <a:srgbClr val="dc2525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Line 6"/>
          <p:cNvSpPr/>
          <p:nvPr/>
        </p:nvSpPr>
        <p:spPr>
          <a:xfrm flipV="1">
            <a:off x="2927520" y="2980800"/>
            <a:ext cx="403200" cy="403560"/>
          </a:xfrm>
          <a:prstGeom prst="line">
            <a:avLst/>
          </a:prstGeom>
          <a:ln w="9360">
            <a:solidFill>
              <a:srgbClr val="dc2525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Line 7"/>
          <p:cNvSpPr/>
          <p:nvPr/>
        </p:nvSpPr>
        <p:spPr>
          <a:xfrm>
            <a:off x="2378160" y="3703680"/>
            <a:ext cx="1266840" cy="731880"/>
          </a:xfrm>
          <a:prstGeom prst="line">
            <a:avLst/>
          </a:prstGeom>
          <a:ln w="9360">
            <a:solidFill>
              <a:srgbClr val="dc2525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Line 8"/>
          <p:cNvSpPr/>
          <p:nvPr/>
        </p:nvSpPr>
        <p:spPr>
          <a:xfrm flipH="1">
            <a:off x="1469520" y="3971880"/>
            <a:ext cx="551160" cy="287280"/>
          </a:xfrm>
          <a:prstGeom prst="line">
            <a:avLst/>
          </a:prstGeom>
          <a:ln w="9360">
            <a:solidFill>
              <a:srgbClr val="dc2525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Line 9"/>
          <p:cNvSpPr/>
          <p:nvPr/>
        </p:nvSpPr>
        <p:spPr>
          <a:xfrm>
            <a:off x="1111320" y="2971800"/>
            <a:ext cx="1266840" cy="731880"/>
          </a:xfrm>
          <a:prstGeom prst="line">
            <a:avLst/>
          </a:prstGeom>
          <a:ln w="9360">
            <a:solidFill>
              <a:srgbClr val="dc2525"/>
            </a:solidFill>
            <a:prstDash val="lg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Freeform 10"/>
          <p:cNvSpPr/>
          <p:nvPr/>
        </p:nvSpPr>
        <p:spPr>
          <a:xfrm>
            <a:off x="1625760" y="2951280"/>
            <a:ext cx="1506240" cy="1504800"/>
          </a:xfrm>
          <a:custGeom>
            <a:avLst/>
            <a:gdLst/>
            <a:ahLst/>
            <a:rect l="l" t="t" r="r" b="b"/>
            <a:pathLst>
              <a:path w="4183" h="4182">
                <a:moveTo>
                  <a:pt x="3439" y="742"/>
                </a:moveTo>
                <a:cubicBezTo>
                  <a:pt x="4182" y="1486"/>
                  <a:pt x="4182" y="2694"/>
                  <a:pt x="3439" y="3438"/>
                </a:cubicBezTo>
                <a:cubicBezTo>
                  <a:pt x="2694" y="4181"/>
                  <a:pt x="1487" y="4181"/>
                  <a:pt x="742" y="3438"/>
                </a:cubicBezTo>
                <a:cubicBezTo>
                  <a:pt x="0" y="2694"/>
                  <a:pt x="0" y="1486"/>
                  <a:pt x="742" y="742"/>
                </a:cubicBezTo>
                <a:cubicBezTo>
                  <a:pt x="1487" y="0"/>
                  <a:pt x="2694" y="0"/>
                  <a:pt x="3439" y="742"/>
                </a:cubicBez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Box 11"/>
          <p:cNvSpPr/>
          <p:nvPr/>
        </p:nvSpPr>
        <p:spPr>
          <a:xfrm>
            <a:off x="1692360" y="3017880"/>
            <a:ext cx="1371600" cy="13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800" spc="-1" strike="noStrike">
                <a:solidFill>
                  <a:srgbClr val="0fb981"/>
                </a:solidFill>
                <a:latin typeface="Calibri-Bold"/>
                <a:ea typeface="Calibri-Bold"/>
              </a:rPr>
              <a:t>ВЫ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Freeform 12"/>
          <p:cNvSpPr/>
          <p:nvPr/>
        </p:nvSpPr>
        <p:spPr>
          <a:xfrm>
            <a:off x="1994040" y="2038320"/>
            <a:ext cx="777600" cy="412920"/>
          </a:xfrm>
          <a:custGeom>
            <a:avLst/>
            <a:gdLst/>
            <a:ahLst/>
            <a:rect l="l" t="t" r="r" b="b"/>
            <a:pathLst>
              <a:path w="2161" h="1145">
                <a:moveTo>
                  <a:pt x="0" y="0"/>
                </a:moveTo>
                <a:lnTo>
                  <a:pt x="2160" y="0"/>
                </a:lnTo>
                <a:lnTo>
                  <a:pt x="2160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600">
            <a:solidFill>
              <a:srgbClr val="dc2525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Box 13"/>
          <p:cNvSpPr/>
          <p:nvPr/>
        </p:nvSpPr>
        <p:spPr>
          <a:xfrm>
            <a:off x="1994040" y="2038320"/>
            <a:ext cx="777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9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900" spc="-1" strike="noStrike">
                <a:solidFill>
                  <a:srgbClr val="0e1e17"/>
                </a:solidFill>
                <a:latin typeface="Calibri-Bold"/>
                <a:ea typeface="Calibri-Bold"/>
              </a:rPr>
              <a:t>Контекст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Freeform 14"/>
          <p:cNvSpPr/>
          <p:nvPr/>
        </p:nvSpPr>
        <p:spPr>
          <a:xfrm>
            <a:off x="3367080" y="2658960"/>
            <a:ext cx="777960" cy="412920"/>
          </a:xfrm>
          <a:custGeom>
            <a:avLst/>
            <a:gdLst/>
            <a:ahLst/>
            <a:rect l="l" t="t" r="r" b="b"/>
            <a:pathLst>
              <a:path w="2161" h="1145">
                <a:moveTo>
                  <a:pt x="0" y="0"/>
                </a:moveTo>
                <a:lnTo>
                  <a:pt x="2160" y="0"/>
                </a:lnTo>
                <a:lnTo>
                  <a:pt x="2160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600">
            <a:solidFill>
              <a:srgbClr val="dc2525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Box 15"/>
          <p:cNvSpPr/>
          <p:nvPr/>
        </p:nvSpPr>
        <p:spPr>
          <a:xfrm>
            <a:off x="3367080" y="2800440"/>
            <a:ext cx="777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9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900" spc="-1" strike="noStrike">
                <a:solidFill>
                  <a:srgbClr val="0e1e17"/>
                </a:solidFill>
                <a:latin typeface="Calibri-Bold"/>
                <a:ea typeface="Calibri-Bold"/>
              </a:rPr>
              <a:t>SMM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Freeform 16"/>
          <p:cNvSpPr/>
          <p:nvPr/>
        </p:nvSpPr>
        <p:spPr>
          <a:xfrm>
            <a:off x="3367080" y="4154400"/>
            <a:ext cx="777960" cy="412920"/>
          </a:xfrm>
          <a:custGeom>
            <a:avLst/>
            <a:gdLst/>
            <a:ahLst/>
            <a:rect l="l" t="t" r="r" b="b"/>
            <a:pathLst>
              <a:path w="2161" h="1145">
                <a:moveTo>
                  <a:pt x="0" y="0"/>
                </a:moveTo>
                <a:lnTo>
                  <a:pt x="2160" y="0"/>
                </a:lnTo>
                <a:lnTo>
                  <a:pt x="2160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600">
            <a:solidFill>
              <a:srgbClr val="dc2525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Box 17"/>
          <p:cNvSpPr/>
          <p:nvPr/>
        </p:nvSpPr>
        <p:spPr>
          <a:xfrm>
            <a:off x="3367080" y="4297320"/>
            <a:ext cx="777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9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900" spc="-1" strike="noStrike">
                <a:solidFill>
                  <a:srgbClr val="0e1e17"/>
                </a:solidFill>
                <a:latin typeface="Calibri-Bold"/>
                <a:ea typeface="Calibri-Bold"/>
              </a:rPr>
              <a:t>SEO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Freeform 18"/>
          <p:cNvSpPr/>
          <p:nvPr/>
        </p:nvSpPr>
        <p:spPr>
          <a:xfrm>
            <a:off x="727200" y="4233960"/>
            <a:ext cx="777600" cy="412560"/>
          </a:xfrm>
          <a:custGeom>
            <a:avLst/>
            <a:gdLst/>
            <a:ahLst/>
            <a:rect l="l" t="t" r="r" b="b"/>
            <a:pathLst>
              <a:path w="2161" h="1145">
                <a:moveTo>
                  <a:pt x="0" y="0"/>
                </a:moveTo>
                <a:lnTo>
                  <a:pt x="2160" y="0"/>
                </a:lnTo>
                <a:lnTo>
                  <a:pt x="2160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600">
            <a:solidFill>
              <a:srgbClr val="dc2525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Box 19"/>
          <p:cNvSpPr/>
          <p:nvPr/>
        </p:nvSpPr>
        <p:spPr>
          <a:xfrm>
            <a:off x="714240" y="4394160"/>
            <a:ext cx="777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9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900" spc="-1" strike="noStrike">
                <a:solidFill>
                  <a:srgbClr val="0e1e17"/>
                </a:solidFill>
                <a:latin typeface="Calibri-Bold"/>
                <a:ea typeface="Calibri-Bold"/>
              </a:rPr>
              <a:t>Дизайн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Freeform 20"/>
          <p:cNvSpPr/>
          <p:nvPr/>
        </p:nvSpPr>
        <p:spPr>
          <a:xfrm>
            <a:off x="714240" y="2766960"/>
            <a:ext cx="777960" cy="412920"/>
          </a:xfrm>
          <a:custGeom>
            <a:avLst/>
            <a:gdLst/>
            <a:ahLst/>
            <a:rect l="l" t="t" r="r" b="b"/>
            <a:pathLst>
              <a:path w="2161" h="1145">
                <a:moveTo>
                  <a:pt x="0" y="0"/>
                </a:moveTo>
                <a:lnTo>
                  <a:pt x="2160" y="0"/>
                </a:lnTo>
                <a:lnTo>
                  <a:pt x="2160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 w="12600">
            <a:solidFill>
              <a:srgbClr val="dc2525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Box 21"/>
          <p:cNvSpPr/>
          <p:nvPr/>
        </p:nvSpPr>
        <p:spPr>
          <a:xfrm>
            <a:off x="714240" y="2908440"/>
            <a:ext cx="7779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9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900" spc="-1" strike="noStrike">
                <a:solidFill>
                  <a:srgbClr val="0e1e17"/>
                </a:solidFill>
                <a:latin typeface="Calibri-Bold"/>
                <a:ea typeface="Calibri-Bold"/>
              </a:rPr>
              <a:t>Сайт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Box 22"/>
          <p:cNvSpPr/>
          <p:nvPr/>
        </p:nvSpPr>
        <p:spPr>
          <a:xfrm>
            <a:off x="4754520" y="1782720"/>
            <a:ext cx="38401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ЧТО ЭТО ОЗНАЧАЕТ НА ПРАКТИКЕ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Box 23"/>
          <p:cNvSpPr/>
          <p:nvPr/>
        </p:nvSpPr>
        <p:spPr>
          <a:xfrm>
            <a:off x="4754520" y="2149560"/>
            <a:ext cx="38401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5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–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8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часов в неделю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Box 24"/>
          <p:cNvSpPr/>
          <p:nvPr/>
        </p:nvSpPr>
        <p:spPr>
          <a:xfrm>
            <a:off x="4754520" y="237816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уходит у вас на координацию подрядчиков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Box 25"/>
          <p:cNvSpPr/>
          <p:nvPr/>
        </p:nvSpPr>
        <p:spPr>
          <a:xfrm>
            <a:off x="4754520" y="2651040"/>
            <a:ext cx="38401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3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–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4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разных KPI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Box 26"/>
          <p:cNvSpPr/>
          <p:nvPr/>
        </p:nvSpPr>
        <p:spPr>
          <a:xfrm>
            <a:off x="4754520" y="287964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у каждого свои — общий результат не считает никто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Box 27"/>
          <p:cNvSpPr/>
          <p:nvPr/>
        </p:nvSpPr>
        <p:spPr>
          <a:xfrm>
            <a:off x="4754520" y="3154320"/>
            <a:ext cx="384012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+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25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–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40%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к бюджету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Box 28"/>
          <p:cNvSpPr/>
          <p:nvPr/>
        </p:nvSpPr>
        <p:spPr>
          <a:xfrm>
            <a:off x="4754520" y="338292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из-за дублирования и нестыковок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Box 29"/>
          <p:cNvSpPr/>
          <p:nvPr/>
        </p:nvSpPr>
        <p:spPr>
          <a:xfrm>
            <a:off x="4754520" y="3657600"/>
            <a:ext cx="38401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Размытая ответственность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Box 30"/>
          <p:cNvSpPr/>
          <p:nvPr/>
        </p:nvSpPr>
        <p:spPr>
          <a:xfrm>
            <a:off x="4754520" y="388620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когда не получилось — виноват «другой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Box 31"/>
          <p:cNvSpPr/>
          <p:nvPr/>
        </p:nvSpPr>
        <p:spPr>
          <a:xfrm>
            <a:off x="4754520" y="4160880"/>
            <a:ext cx="38401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Знание о клиенте теряется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Box 32"/>
          <p:cNvSpPr/>
          <p:nvPr/>
        </p:nvSpPr>
        <p:spPr>
          <a:xfrm>
            <a:off x="4754520" y="4389480"/>
            <a:ext cx="384012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уходит подрядчик — уходит экспертиза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РЕШЕНИЕ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Box 2"/>
          <p:cNvSpPr/>
          <p:nvPr/>
        </p:nvSpPr>
        <p:spPr>
          <a:xfrm>
            <a:off x="457200" y="639720"/>
            <a:ext cx="822960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Одна команда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 —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все функции маркетинга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03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Line 4"/>
          <p:cNvSpPr/>
          <p:nvPr/>
        </p:nvSpPr>
        <p:spPr>
          <a:xfrm>
            <a:off x="2468520" y="1782720"/>
            <a:ext cx="1800" cy="155412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Line 5"/>
          <p:cNvSpPr/>
          <p:nvPr/>
        </p:nvSpPr>
        <p:spPr>
          <a:xfrm flipH="1">
            <a:off x="3171960" y="2554200"/>
            <a:ext cx="449280" cy="44928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Line 6"/>
          <p:cNvSpPr/>
          <p:nvPr/>
        </p:nvSpPr>
        <p:spPr>
          <a:xfrm>
            <a:off x="2468520" y="3336840"/>
            <a:ext cx="1346400" cy="77796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Line 7"/>
          <p:cNvSpPr/>
          <p:nvPr/>
        </p:nvSpPr>
        <p:spPr>
          <a:xfrm>
            <a:off x="2468520" y="3336840"/>
            <a:ext cx="1800" cy="155412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Line 8"/>
          <p:cNvSpPr/>
          <p:nvPr/>
        </p:nvSpPr>
        <p:spPr>
          <a:xfrm flipV="1">
            <a:off x="1573200" y="3984120"/>
            <a:ext cx="447840" cy="20484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Line 9"/>
          <p:cNvSpPr/>
          <p:nvPr/>
        </p:nvSpPr>
        <p:spPr>
          <a:xfrm>
            <a:off x="1122480" y="2560680"/>
            <a:ext cx="1346040" cy="777960"/>
          </a:xfrm>
          <a:prstGeom prst="line">
            <a:avLst/>
          </a:prstGeom>
          <a:ln w="1908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Freeform 10"/>
          <p:cNvSpPr/>
          <p:nvPr/>
        </p:nvSpPr>
        <p:spPr>
          <a:xfrm>
            <a:off x="1465200" y="2333520"/>
            <a:ext cx="2008080" cy="2008440"/>
          </a:xfrm>
          <a:custGeom>
            <a:avLst/>
            <a:gdLst/>
            <a:ahLst/>
            <a:rect l="l" t="t" r="r" b="b"/>
            <a:pathLst>
              <a:path w="5577" h="5577">
                <a:moveTo>
                  <a:pt x="4585" y="990"/>
                </a:moveTo>
                <a:cubicBezTo>
                  <a:pt x="5576" y="1983"/>
                  <a:pt x="5576" y="3592"/>
                  <a:pt x="4585" y="4585"/>
                </a:cubicBezTo>
                <a:cubicBezTo>
                  <a:pt x="3592" y="5576"/>
                  <a:pt x="1983" y="5576"/>
                  <a:pt x="990" y="4585"/>
                </a:cubicBezTo>
                <a:cubicBezTo>
                  <a:pt x="0" y="3592"/>
                  <a:pt x="0" y="1983"/>
                  <a:pt x="990" y="990"/>
                </a:cubicBezTo>
                <a:cubicBezTo>
                  <a:pt x="1983" y="0"/>
                  <a:pt x="3592" y="0"/>
                  <a:pt x="4585" y="990"/>
                </a:cubicBezTo>
              </a:path>
            </a:pathLst>
          </a:custGeom>
          <a:solidFill>
            <a:srgbClr val="091913"/>
          </a:solidFill>
          <a:ln w="38160">
            <a:solidFill>
              <a:srgbClr val="0fb981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Box 11"/>
          <p:cNvSpPr/>
          <p:nvPr/>
        </p:nvSpPr>
        <p:spPr>
          <a:xfrm>
            <a:off x="1554120" y="2422440"/>
            <a:ext cx="1828800" cy="182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Команда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fb981"/>
                </a:solidFill>
                <a:latin typeface="Calibri-Bold"/>
                <a:ea typeface="Calibri-Bold"/>
              </a:rPr>
              <a:t>Двойников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Freeform 12"/>
          <p:cNvSpPr/>
          <p:nvPr/>
        </p:nvSpPr>
        <p:spPr>
          <a:xfrm>
            <a:off x="1965240" y="1600200"/>
            <a:ext cx="1006560" cy="36684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Box 13"/>
          <p:cNvSpPr/>
          <p:nvPr/>
        </p:nvSpPr>
        <p:spPr>
          <a:xfrm>
            <a:off x="1965240" y="1600200"/>
            <a:ext cx="1006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Стратегия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Freeform 14"/>
          <p:cNvSpPr/>
          <p:nvPr/>
        </p:nvSpPr>
        <p:spPr>
          <a:xfrm>
            <a:off x="3341520" y="2378160"/>
            <a:ext cx="1006560" cy="36648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Box 15"/>
          <p:cNvSpPr/>
          <p:nvPr/>
        </p:nvSpPr>
        <p:spPr>
          <a:xfrm>
            <a:off x="3311640" y="2378160"/>
            <a:ext cx="1006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Бренд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Freeform 16"/>
          <p:cNvSpPr/>
          <p:nvPr/>
        </p:nvSpPr>
        <p:spPr>
          <a:xfrm>
            <a:off x="3311640" y="3932280"/>
            <a:ext cx="1006200" cy="36684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Box 17"/>
          <p:cNvSpPr/>
          <p:nvPr/>
        </p:nvSpPr>
        <p:spPr>
          <a:xfrm>
            <a:off x="3311640" y="3932280"/>
            <a:ext cx="1006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Performance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Freeform 18"/>
          <p:cNvSpPr/>
          <p:nvPr/>
        </p:nvSpPr>
        <p:spPr>
          <a:xfrm>
            <a:off x="1965240" y="4708440"/>
            <a:ext cx="1006560" cy="36684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Box 19"/>
          <p:cNvSpPr/>
          <p:nvPr/>
        </p:nvSpPr>
        <p:spPr>
          <a:xfrm>
            <a:off x="1965240" y="4708440"/>
            <a:ext cx="1006560" cy="2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Контент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Freeform 20"/>
          <p:cNvSpPr/>
          <p:nvPr/>
        </p:nvSpPr>
        <p:spPr>
          <a:xfrm>
            <a:off x="620640" y="3932280"/>
            <a:ext cx="1006560" cy="36684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Box 21"/>
          <p:cNvSpPr/>
          <p:nvPr/>
        </p:nvSpPr>
        <p:spPr>
          <a:xfrm>
            <a:off x="620640" y="3932280"/>
            <a:ext cx="1006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Аналитика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Freeform 22"/>
          <p:cNvSpPr/>
          <p:nvPr/>
        </p:nvSpPr>
        <p:spPr>
          <a:xfrm>
            <a:off x="620640" y="2378160"/>
            <a:ext cx="1006560" cy="366480"/>
          </a:xfrm>
          <a:custGeom>
            <a:avLst/>
            <a:gdLst/>
            <a:ahLst/>
            <a:rect l="l" t="t" r="r" b="b"/>
            <a:pathLst>
              <a:path w="2796" h="1018">
                <a:moveTo>
                  <a:pt x="0" y="0"/>
                </a:moveTo>
                <a:lnTo>
                  <a:pt x="2795" y="0"/>
                </a:lnTo>
                <a:lnTo>
                  <a:pt x="2795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Box 23"/>
          <p:cNvSpPr/>
          <p:nvPr/>
        </p:nvSpPr>
        <p:spPr>
          <a:xfrm>
            <a:off x="620640" y="2378160"/>
            <a:ext cx="1006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-Bold"/>
                <a:ea typeface="Calibri-Bold"/>
              </a:rPr>
              <a:t>Продакшн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Freeform 24"/>
          <p:cNvSpPr/>
          <p:nvPr/>
        </p:nvSpPr>
        <p:spPr>
          <a:xfrm>
            <a:off x="5029200" y="1782720"/>
            <a:ext cx="3613320" cy="870120"/>
          </a:xfrm>
          <a:custGeom>
            <a:avLst/>
            <a:gdLst/>
            <a:ahLst/>
            <a:rect l="l" t="t" r="r" b="b"/>
            <a:pathLst>
              <a:path w="10035" h="2415">
                <a:moveTo>
                  <a:pt x="0" y="0"/>
                </a:moveTo>
                <a:lnTo>
                  <a:pt x="10034" y="0"/>
                </a:lnTo>
                <a:lnTo>
                  <a:pt x="1003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Freeform 25"/>
          <p:cNvSpPr/>
          <p:nvPr/>
        </p:nvSpPr>
        <p:spPr>
          <a:xfrm>
            <a:off x="5029200" y="1782720"/>
            <a:ext cx="73080" cy="870120"/>
          </a:xfrm>
          <a:custGeom>
            <a:avLst/>
            <a:gdLst/>
            <a:ahLst/>
            <a:rect l="l" t="t" r="r" b="b"/>
            <a:pathLst>
              <a:path w="205" h="2415">
                <a:moveTo>
                  <a:pt x="0" y="0"/>
                </a:moveTo>
                <a:lnTo>
                  <a:pt x="204" y="0"/>
                </a:lnTo>
                <a:lnTo>
                  <a:pt x="20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Box 26"/>
          <p:cNvSpPr/>
          <p:nvPr/>
        </p:nvSpPr>
        <p:spPr>
          <a:xfrm>
            <a:off x="5211720" y="1920960"/>
            <a:ext cx="1554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1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 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ТЗ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Box 27"/>
          <p:cNvSpPr/>
          <p:nvPr/>
        </p:nvSpPr>
        <p:spPr>
          <a:xfrm>
            <a:off x="6765840" y="1874880"/>
            <a:ext cx="18288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Все функции работают на одну стратегию и одни KPI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Freeform 28"/>
          <p:cNvSpPr/>
          <p:nvPr/>
        </p:nvSpPr>
        <p:spPr>
          <a:xfrm>
            <a:off x="5029200" y="2835360"/>
            <a:ext cx="3613320" cy="869760"/>
          </a:xfrm>
          <a:custGeom>
            <a:avLst/>
            <a:gdLst/>
            <a:ahLst/>
            <a:rect l="l" t="t" r="r" b="b"/>
            <a:pathLst>
              <a:path w="10035" h="2415">
                <a:moveTo>
                  <a:pt x="0" y="0"/>
                </a:moveTo>
                <a:lnTo>
                  <a:pt x="10034" y="0"/>
                </a:lnTo>
                <a:lnTo>
                  <a:pt x="1003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Freeform 29"/>
          <p:cNvSpPr/>
          <p:nvPr/>
        </p:nvSpPr>
        <p:spPr>
          <a:xfrm>
            <a:off x="5029200" y="2835360"/>
            <a:ext cx="73080" cy="869760"/>
          </a:xfrm>
          <a:custGeom>
            <a:avLst/>
            <a:gdLst/>
            <a:ahLst/>
            <a:rect l="l" t="t" r="r" b="b"/>
            <a:pathLst>
              <a:path w="205" h="2415">
                <a:moveTo>
                  <a:pt x="0" y="0"/>
                </a:moveTo>
                <a:lnTo>
                  <a:pt x="204" y="0"/>
                </a:lnTo>
                <a:lnTo>
                  <a:pt x="20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Box 30"/>
          <p:cNvSpPr/>
          <p:nvPr/>
        </p:nvSpPr>
        <p:spPr>
          <a:xfrm>
            <a:off x="5211720" y="2971800"/>
            <a:ext cx="1554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1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 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P&amp;L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Box 31"/>
          <p:cNvSpPr/>
          <p:nvPr/>
        </p:nvSpPr>
        <p:spPr>
          <a:xfrm>
            <a:off x="6765840" y="2925720"/>
            <a:ext cx="18288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Понятная экономика всего маркетинга — а не пять отчётов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Freeform 32"/>
          <p:cNvSpPr/>
          <p:nvPr/>
        </p:nvSpPr>
        <p:spPr>
          <a:xfrm>
            <a:off x="5029200" y="3886200"/>
            <a:ext cx="3613320" cy="870120"/>
          </a:xfrm>
          <a:custGeom>
            <a:avLst/>
            <a:gdLst/>
            <a:ahLst/>
            <a:rect l="l" t="t" r="r" b="b"/>
            <a:pathLst>
              <a:path w="10035" h="2415">
                <a:moveTo>
                  <a:pt x="0" y="0"/>
                </a:moveTo>
                <a:lnTo>
                  <a:pt x="10034" y="0"/>
                </a:lnTo>
                <a:lnTo>
                  <a:pt x="1003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Freeform 33"/>
          <p:cNvSpPr/>
          <p:nvPr/>
        </p:nvSpPr>
        <p:spPr>
          <a:xfrm>
            <a:off x="5029200" y="3886200"/>
            <a:ext cx="73080" cy="870120"/>
          </a:xfrm>
          <a:custGeom>
            <a:avLst/>
            <a:gdLst/>
            <a:ahLst/>
            <a:rect l="l" t="t" r="r" b="b"/>
            <a:pathLst>
              <a:path w="205" h="2415">
                <a:moveTo>
                  <a:pt x="0" y="0"/>
                </a:moveTo>
                <a:lnTo>
                  <a:pt x="204" y="0"/>
                </a:lnTo>
                <a:lnTo>
                  <a:pt x="204" y="2414"/>
                </a:lnTo>
                <a:lnTo>
                  <a:pt x="0" y="2414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Box 34"/>
          <p:cNvSpPr/>
          <p:nvPr/>
        </p:nvSpPr>
        <p:spPr>
          <a:xfrm>
            <a:off x="5211720" y="4022640"/>
            <a:ext cx="15541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1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 </a:t>
            </a:r>
            <a:r>
              <a:rPr b="1" lang="en-US" sz="22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контакт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Box 35"/>
          <p:cNvSpPr/>
          <p:nvPr/>
        </p:nvSpPr>
        <p:spPr>
          <a:xfrm>
            <a:off x="6765840" y="3978360"/>
            <a:ext cx="182880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С вами — один Senior-стратег, который отвечает за всё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МАТЕМАТИКА ВЫГОДЫ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Box 2"/>
          <p:cNvSpPr/>
          <p:nvPr/>
        </p:nvSpPr>
        <p:spPr>
          <a:xfrm>
            <a:off x="457200" y="547560"/>
            <a:ext cx="8604360" cy="8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Что меняется в бюджете при переходе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на одного партнёра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04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Freeform 4"/>
          <p:cNvSpPr/>
          <p:nvPr/>
        </p:nvSpPr>
        <p:spPr>
          <a:xfrm>
            <a:off x="457200" y="1438200"/>
            <a:ext cx="8139240" cy="384120"/>
          </a:xfrm>
          <a:custGeom>
            <a:avLst/>
            <a:gdLst/>
            <a:ahLst/>
            <a:rect l="l" t="t" r="r" b="b"/>
            <a:pathLst>
              <a:path w="22608" h="1069">
                <a:moveTo>
                  <a:pt x="0" y="0"/>
                </a:moveTo>
                <a:lnTo>
                  <a:pt x="22607" y="0"/>
                </a:lnTo>
                <a:lnTo>
                  <a:pt x="22607" y="1068"/>
                </a:lnTo>
                <a:lnTo>
                  <a:pt x="0" y="1068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Box 5"/>
          <p:cNvSpPr/>
          <p:nvPr/>
        </p:nvSpPr>
        <p:spPr>
          <a:xfrm>
            <a:off x="593640" y="1563840"/>
            <a:ext cx="352116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Статья расходов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Box 6"/>
          <p:cNvSpPr/>
          <p:nvPr/>
        </p:nvSpPr>
        <p:spPr>
          <a:xfrm>
            <a:off x="4114800" y="1563840"/>
            <a:ext cx="2239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5</a:t>
            </a: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подрядчиков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Box 7"/>
          <p:cNvSpPr/>
          <p:nvPr/>
        </p:nvSpPr>
        <p:spPr>
          <a:xfrm>
            <a:off x="6354720" y="1563840"/>
            <a:ext cx="2239920" cy="2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Комплекс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Freeform 8"/>
          <p:cNvSpPr/>
          <p:nvPr/>
        </p:nvSpPr>
        <p:spPr>
          <a:xfrm>
            <a:off x="457200" y="1822320"/>
            <a:ext cx="8139240" cy="311400"/>
          </a:xfrm>
          <a:custGeom>
            <a:avLst/>
            <a:gdLst/>
            <a:ahLst/>
            <a:rect l="l" t="t" r="r" b="b"/>
            <a:pathLst>
              <a:path w="22608" h="866">
                <a:moveTo>
                  <a:pt x="0" y="0"/>
                </a:moveTo>
                <a:lnTo>
                  <a:pt x="22607" y="0"/>
                </a:lnTo>
                <a:lnTo>
                  <a:pt x="22607" y="865"/>
                </a:lnTo>
                <a:lnTo>
                  <a:pt x="0" y="86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Box 9"/>
          <p:cNvSpPr/>
          <p:nvPr/>
        </p:nvSpPr>
        <p:spPr>
          <a:xfrm>
            <a:off x="593640" y="190980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Стратегия / координация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Box 10"/>
          <p:cNvSpPr/>
          <p:nvPr/>
        </p:nvSpPr>
        <p:spPr>
          <a:xfrm>
            <a:off x="4114800" y="190980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150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Box 11"/>
          <p:cNvSpPr/>
          <p:nvPr/>
        </p:nvSpPr>
        <p:spPr>
          <a:xfrm>
            <a:off x="6354720" y="190980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Box 12"/>
          <p:cNvSpPr/>
          <p:nvPr/>
        </p:nvSpPr>
        <p:spPr>
          <a:xfrm>
            <a:off x="593640" y="222084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Контекст и таргет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Box 13"/>
          <p:cNvSpPr/>
          <p:nvPr/>
        </p:nvSpPr>
        <p:spPr>
          <a:xfrm>
            <a:off x="4114800" y="222084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180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Box 14"/>
          <p:cNvSpPr/>
          <p:nvPr/>
        </p:nvSpPr>
        <p:spPr>
          <a:xfrm>
            <a:off x="6354720" y="222084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Freeform 15"/>
          <p:cNvSpPr/>
          <p:nvPr/>
        </p:nvSpPr>
        <p:spPr>
          <a:xfrm>
            <a:off x="457200" y="2444760"/>
            <a:ext cx="8139240" cy="311040"/>
          </a:xfrm>
          <a:custGeom>
            <a:avLst/>
            <a:gdLst/>
            <a:ahLst/>
            <a:rect l="l" t="t" r="r" b="b"/>
            <a:pathLst>
              <a:path w="22608" h="866">
                <a:moveTo>
                  <a:pt x="0" y="0"/>
                </a:moveTo>
                <a:lnTo>
                  <a:pt x="22607" y="0"/>
                </a:lnTo>
                <a:lnTo>
                  <a:pt x="22607" y="865"/>
                </a:lnTo>
                <a:lnTo>
                  <a:pt x="0" y="86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Box 16"/>
          <p:cNvSpPr/>
          <p:nvPr/>
        </p:nvSpPr>
        <p:spPr>
          <a:xfrm>
            <a:off x="593640" y="253224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SMM и контент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Box 17"/>
          <p:cNvSpPr/>
          <p:nvPr/>
        </p:nvSpPr>
        <p:spPr>
          <a:xfrm>
            <a:off x="4114800" y="253224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140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Box 18"/>
          <p:cNvSpPr/>
          <p:nvPr/>
        </p:nvSpPr>
        <p:spPr>
          <a:xfrm>
            <a:off x="6354720" y="253224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Box 19"/>
          <p:cNvSpPr/>
          <p:nvPr/>
        </p:nvSpPr>
        <p:spPr>
          <a:xfrm>
            <a:off x="593640" y="284328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SEO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Box 20"/>
          <p:cNvSpPr/>
          <p:nvPr/>
        </p:nvSpPr>
        <p:spPr>
          <a:xfrm>
            <a:off x="4114800" y="284328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120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Box 21"/>
          <p:cNvSpPr/>
          <p:nvPr/>
        </p:nvSpPr>
        <p:spPr>
          <a:xfrm>
            <a:off x="6354720" y="284328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Freeform 22"/>
          <p:cNvSpPr/>
          <p:nvPr/>
        </p:nvSpPr>
        <p:spPr>
          <a:xfrm>
            <a:off x="457200" y="3067200"/>
            <a:ext cx="8139240" cy="311040"/>
          </a:xfrm>
          <a:custGeom>
            <a:avLst/>
            <a:gdLst/>
            <a:ahLst/>
            <a:rect l="l" t="t" r="r" b="b"/>
            <a:pathLst>
              <a:path w="22608" h="866">
                <a:moveTo>
                  <a:pt x="0" y="0"/>
                </a:moveTo>
                <a:lnTo>
                  <a:pt x="22607" y="0"/>
                </a:lnTo>
                <a:lnTo>
                  <a:pt x="22607" y="865"/>
                </a:lnTo>
                <a:lnTo>
                  <a:pt x="0" y="86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Box 23"/>
          <p:cNvSpPr/>
          <p:nvPr/>
        </p:nvSpPr>
        <p:spPr>
          <a:xfrm>
            <a:off x="593640" y="315432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Аналитика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Box 24"/>
          <p:cNvSpPr/>
          <p:nvPr/>
        </p:nvSpPr>
        <p:spPr>
          <a:xfrm>
            <a:off x="4114800" y="315432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80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Box 25"/>
          <p:cNvSpPr/>
          <p:nvPr/>
        </p:nvSpPr>
        <p:spPr>
          <a:xfrm>
            <a:off x="6354720" y="315432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Box 26"/>
          <p:cNvSpPr/>
          <p:nvPr/>
        </p:nvSpPr>
        <p:spPr>
          <a:xfrm>
            <a:off x="593640" y="346392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Дизайн / продакшн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Box 27"/>
          <p:cNvSpPr/>
          <p:nvPr/>
        </p:nvSpPr>
        <p:spPr>
          <a:xfrm>
            <a:off x="4114800" y="346392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90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Box 28"/>
          <p:cNvSpPr/>
          <p:nvPr/>
        </p:nvSpPr>
        <p:spPr>
          <a:xfrm>
            <a:off x="6354720" y="346392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входит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Freeform 29"/>
          <p:cNvSpPr/>
          <p:nvPr/>
        </p:nvSpPr>
        <p:spPr>
          <a:xfrm>
            <a:off x="457200" y="3687840"/>
            <a:ext cx="8139240" cy="311040"/>
          </a:xfrm>
          <a:custGeom>
            <a:avLst/>
            <a:gdLst/>
            <a:ahLst/>
            <a:rect l="l" t="t" r="r" b="b"/>
            <a:pathLst>
              <a:path w="22608" h="866">
                <a:moveTo>
                  <a:pt x="0" y="0"/>
                </a:moveTo>
                <a:lnTo>
                  <a:pt x="22607" y="0"/>
                </a:lnTo>
                <a:lnTo>
                  <a:pt x="22607" y="865"/>
                </a:lnTo>
                <a:lnTo>
                  <a:pt x="0" y="86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Box 30"/>
          <p:cNvSpPr/>
          <p:nvPr/>
        </p:nvSpPr>
        <p:spPr>
          <a:xfrm>
            <a:off x="593640" y="3774960"/>
            <a:ext cx="3521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Скрытые: ваше время + дубли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Box 31"/>
          <p:cNvSpPr/>
          <p:nvPr/>
        </p:nvSpPr>
        <p:spPr>
          <a:xfrm>
            <a:off x="4114800" y="3774960"/>
            <a:ext cx="223992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≈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150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000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Box 32"/>
          <p:cNvSpPr/>
          <p:nvPr/>
        </p:nvSpPr>
        <p:spPr>
          <a:xfrm>
            <a:off x="6354720" y="3774960"/>
            <a:ext cx="22399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49668"/>
                </a:solidFill>
                <a:latin typeface="Calibri-Bold"/>
                <a:ea typeface="Calibri-Bold"/>
              </a:rPr>
              <a:t>0</a:t>
            </a:r>
            <a:r>
              <a:rPr b="1" lang="en-US" sz="1000" spc="-1" strike="noStrike">
                <a:solidFill>
                  <a:srgbClr val="049668"/>
                </a:solidFill>
                <a:latin typeface="Calibri-Bold"/>
                <a:ea typeface="Calibri-Bold"/>
              </a:rPr>
              <a:t> 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Freeform 33"/>
          <p:cNvSpPr/>
          <p:nvPr/>
        </p:nvSpPr>
        <p:spPr>
          <a:xfrm>
            <a:off x="457200" y="4071960"/>
            <a:ext cx="8139240" cy="457200"/>
          </a:xfrm>
          <a:custGeom>
            <a:avLst/>
            <a:gdLst/>
            <a:ahLst/>
            <a:rect l="l" t="t" r="r" b="b"/>
            <a:pathLst>
              <a:path w="22608" h="1272">
                <a:moveTo>
                  <a:pt x="0" y="0"/>
                </a:moveTo>
                <a:lnTo>
                  <a:pt x="22607" y="0"/>
                </a:lnTo>
                <a:lnTo>
                  <a:pt x="22607" y="1271"/>
                </a:lnTo>
                <a:lnTo>
                  <a:pt x="0" y="1271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Box 34"/>
          <p:cNvSpPr/>
          <p:nvPr/>
        </p:nvSpPr>
        <p:spPr>
          <a:xfrm>
            <a:off x="593640" y="4218120"/>
            <a:ext cx="352116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300" spc="-1" strike="noStrike">
                <a:solidFill>
                  <a:srgbClr val="091913"/>
                </a:solidFill>
                <a:latin typeface="Calibri-Bold"/>
                <a:ea typeface="Calibri-Bold"/>
              </a:rPr>
              <a:t>Итого / месяц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Box 35"/>
          <p:cNvSpPr/>
          <p:nvPr/>
        </p:nvSpPr>
        <p:spPr>
          <a:xfrm>
            <a:off x="4114800" y="4206960"/>
            <a:ext cx="2239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910</a:t>
            </a: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 </a:t>
            </a: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000</a:t>
            </a: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 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Box 36"/>
          <p:cNvSpPr/>
          <p:nvPr/>
        </p:nvSpPr>
        <p:spPr>
          <a:xfrm>
            <a:off x="6354720" y="4206960"/>
            <a:ext cx="2239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от 580 000</a:t>
            </a: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 ₽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Box 37"/>
          <p:cNvSpPr/>
          <p:nvPr/>
        </p:nvSpPr>
        <p:spPr>
          <a:xfrm>
            <a:off x="457200" y="4824360"/>
            <a:ext cx="81374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0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→  </a:t>
            </a:r>
            <a:r>
              <a:rPr b="0" i="1" lang="en-US" sz="10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Реальная экономия 25–35%/мес + освобождённое время команды + единая ответственность</a:t>
            </a:r>
            <a:r>
              <a:rPr b="0" i="1" lang="en-US" sz="10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СОСТАВ РАБОТ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Box 2"/>
          <p:cNvSpPr/>
          <p:nvPr/>
        </p:nvSpPr>
        <p:spPr>
          <a:xfrm>
            <a:off x="457200" y="639720"/>
            <a:ext cx="8229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Что входит в комплексный маркетинг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05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Freeform 4"/>
          <p:cNvSpPr/>
          <p:nvPr/>
        </p:nvSpPr>
        <p:spPr>
          <a:xfrm>
            <a:off x="504720" y="1438200"/>
            <a:ext cx="3932280" cy="412920"/>
          </a:xfrm>
          <a:custGeom>
            <a:avLst/>
            <a:gdLst/>
            <a:ahLst/>
            <a:rect l="l" t="t" r="r" b="b"/>
            <a:pathLst>
              <a:path w="10924" h="1145">
                <a:moveTo>
                  <a:pt x="0" y="0"/>
                </a:moveTo>
                <a:lnTo>
                  <a:pt x="10923" y="0"/>
                </a:lnTo>
                <a:lnTo>
                  <a:pt x="10923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Box 5"/>
          <p:cNvSpPr/>
          <p:nvPr/>
        </p:nvSpPr>
        <p:spPr>
          <a:xfrm>
            <a:off x="687240" y="1562040"/>
            <a:ext cx="3657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300" spc="-1" strike="noStrike">
                <a:solidFill>
                  <a:srgbClr val="0fb981"/>
                </a:solidFill>
                <a:latin typeface="Calibri-Bold"/>
                <a:ea typeface="Calibri-Bold"/>
              </a:rPr>
              <a:t>Стратегия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Freeform 6"/>
          <p:cNvSpPr/>
          <p:nvPr/>
        </p:nvSpPr>
        <p:spPr>
          <a:xfrm>
            <a:off x="504720" y="1851120"/>
            <a:ext cx="3932280" cy="1006560"/>
          </a:xfrm>
          <a:custGeom>
            <a:avLst/>
            <a:gdLst/>
            <a:ahLst/>
            <a:rect l="l" t="t" r="r" b="b"/>
            <a:pathLst>
              <a:path w="10924" h="2796">
                <a:moveTo>
                  <a:pt x="0" y="0"/>
                </a:moveTo>
                <a:lnTo>
                  <a:pt x="10923" y="0"/>
                </a:lnTo>
                <a:lnTo>
                  <a:pt x="10923" y="2795"/>
                </a:lnTo>
                <a:lnTo>
                  <a:pt x="0" y="279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Box 7"/>
          <p:cNvSpPr/>
          <p:nvPr/>
        </p:nvSpPr>
        <p:spPr>
          <a:xfrm>
            <a:off x="687240" y="1981080"/>
            <a:ext cx="365760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Маркетинговая стратегия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Позиционирование и УТП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Календарь активностей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Ежеквартальная корректировка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Freeform 8"/>
          <p:cNvSpPr/>
          <p:nvPr/>
        </p:nvSpPr>
        <p:spPr>
          <a:xfrm>
            <a:off x="4665600" y="1438200"/>
            <a:ext cx="3932280" cy="412920"/>
          </a:xfrm>
          <a:custGeom>
            <a:avLst/>
            <a:gdLst/>
            <a:ahLst/>
            <a:rect l="l" t="t" r="r" b="b"/>
            <a:pathLst>
              <a:path w="10924" h="1145">
                <a:moveTo>
                  <a:pt x="0" y="0"/>
                </a:moveTo>
                <a:lnTo>
                  <a:pt x="10923" y="0"/>
                </a:lnTo>
                <a:lnTo>
                  <a:pt x="10923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Box 9"/>
          <p:cNvSpPr/>
          <p:nvPr/>
        </p:nvSpPr>
        <p:spPr>
          <a:xfrm>
            <a:off x="4848120" y="1562040"/>
            <a:ext cx="3657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300" spc="-1" strike="noStrike">
                <a:solidFill>
                  <a:srgbClr val="0fb981"/>
                </a:solidFill>
                <a:latin typeface="Calibri-Bold"/>
                <a:ea typeface="Calibri-Bold"/>
              </a:rPr>
              <a:t>Performance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Freeform 10"/>
          <p:cNvSpPr/>
          <p:nvPr/>
        </p:nvSpPr>
        <p:spPr>
          <a:xfrm>
            <a:off x="4665600" y="1851120"/>
            <a:ext cx="3932280" cy="1006560"/>
          </a:xfrm>
          <a:custGeom>
            <a:avLst/>
            <a:gdLst/>
            <a:ahLst/>
            <a:rect l="l" t="t" r="r" b="b"/>
            <a:pathLst>
              <a:path w="10924" h="2796">
                <a:moveTo>
                  <a:pt x="0" y="0"/>
                </a:moveTo>
                <a:lnTo>
                  <a:pt x="10923" y="0"/>
                </a:lnTo>
                <a:lnTo>
                  <a:pt x="10923" y="2795"/>
                </a:lnTo>
                <a:lnTo>
                  <a:pt x="0" y="279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Box 11"/>
          <p:cNvSpPr/>
          <p:nvPr/>
        </p:nvSpPr>
        <p:spPr>
          <a:xfrm>
            <a:off x="4848120" y="1981080"/>
            <a:ext cx="365760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Контекст, таргет, RTB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SEO и контент-маркетинг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Email / push / CRM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Сквозная аналитика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Freeform 12"/>
          <p:cNvSpPr/>
          <p:nvPr/>
        </p:nvSpPr>
        <p:spPr>
          <a:xfrm>
            <a:off x="504720" y="2948040"/>
            <a:ext cx="3932280" cy="412560"/>
          </a:xfrm>
          <a:custGeom>
            <a:avLst/>
            <a:gdLst/>
            <a:ahLst/>
            <a:rect l="l" t="t" r="r" b="b"/>
            <a:pathLst>
              <a:path w="10924" h="1145">
                <a:moveTo>
                  <a:pt x="0" y="0"/>
                </a:moveTo>
                <a:lnTo>
                  <a:pt x="10923" y="0"/>
                </a:lnTo>
                <a:lnTo>
                  <a:pt x="10923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Box 13"/>
          <p:cNvSpPr/>
          <p:nvPr/>
        </p:nvSpPr>
        <p:spPr>
          <a:xfrm>
            <a:off x="687240" y="3070080"/>
            <a:ext cx="3657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300" spc="-1" strike="noStrike">
                <a:solidFill>
                  <a:srgbClr val="0fb981"/>
                </a:solidFill>
                <a:latin typeface="Calibri-Bold"/>
                <a:ea typeface="Calibri-Bold"/>
              </a:rPr>
              <a:t>Бренд и контент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Freeform 14"/>
          <p:cNvSpPr/>
          <p:nvPr/>
        </p:nvSpPr>
        <p:spPr>
          <a:xfrm>
            <a:off x="504720" y="3359160"/>
            <a:ext cx="3932280" cy="1006560"/>
          </a:xfrm>
          <a:custGeom>
            <a:avLst/>
            <a:gdLst/>
            <a:ahLst/>
            <a:rect l="l" t="t" r="r" b="b"/>
            <a:pathLst>
              <a:path w="10924" h="2796">
                <a:moveTo>
                  <a:pt x="0" y="0"/>
                </a:moveTo>
                <a:lnTo>
                  <a:pt x="10923" y="0"/>
                </a:lnTo>
                <a:lnTo>
                  <a:pt x="10923" y="2795"/>
                </a:lnTo>
                <a:lnTo>
                  <a:pt x="0" y="279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Box 15"/>
          <p:cNvSpPr/>
          <p:nvPr/>
        </p:nvSpPr>
        <p:spPr>
          <a:xfrm>
            <a:off x="687240" y="3490920"/>
            <a:ext cx="365760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Бренд-платформа и tone of voice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Дизайн-система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Контент: текст, видео, дизайн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SMM и работа с инфлюенсерами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Freeform 16"/>
          <p:cNvSpPr/>
          <p:nvPr/>
        </p:nvSpPr>
        <p:spPr>
          <a:xfrm>
            <a:off x="4665600" y="2948040"/>
            <a:ext cx="3932280" cy="412560"/>
          </a:xfrm>
          <a:custGeom>
            <a:avLst/>
            <a:gdLst/>
            <a:ahLst/>
            <a:rect l="l" t="t" r="r" b="b"/>
            <a:pathLst>
              <a:path w="10924" h="1145">
                <a:moveTo>
                  <a:pt x="0" y="0"/>
                </a:moveTo>
                <a:lnTo>
                  <a:pt x="10923" y="0"/>
                </a:lnTo>
                <a:lnTo>
                  <a:pt x="10923" y="1144"/>
                </a:lnTo>
                <a:lnTo>
                  <a:pt x="0" y="1144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Box 17"/>
          <p:cNvSpPr/>
          <p:nvPr/>
        </p:nvSpPr>
        <p:spPr>
          <a:xfrm>
            <a:off x="4848120" y="3070080"/>
            <a:ext cx="36576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300" spc="-1" strike="noStrike">
                <a:solidFill>
                  <a:srgbClr val="0fb981"/>
                </a:solidFill>
                <a:latin typeface="Calibri-Bold"/>
                <a:ea typeface="Calibri-Bold"/>
              </a:rPr>
              <a:t>Аналитика и отчётность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Freeform 18"/>
          <p:cNvSpPr/>
          <p:nvPr/>
        </p:nvSpPr>
        <p:spPr>
          <a:xfrm>
            <a:off x="4665600" y="3359160"/>
            <a:ext cx="3932280" cy="1006560"/>
          </a:xfrm>
          <a:custGeom>
            <a:avLst/>
            <a:gdLst/>
            <a:ahLst/>
            <a:rect l="l" t="t" r="r" b="b"/>
            <a:pathLst>
              <a:path w="10924" h="2796">
                <a:moveTo>
                  <a:pt x="0" y="0"/>
                </a:moveTo>
                <a:lnTo>
                  <a:pt x="10923" y="0"/>
                </a:lnTo>
                <a:lnTo>
                  <a:pt x="10923" y="2795"/>
                </a:lnTo>
                <a:lnTo>
                  <a:pt x="0" y="2795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Box 19"/>
          <p:cNvSpPr/>
          <p:nvPr/>
        </p:nvSpPr>
        <p:spPr>
          <a:xfrm>
            <a:off x="4848120" y="3490920"/>
            <a:ext cx="365760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Дашборд по всем каналам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Юнит-экономика и P&amp;L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Еженедельный созвон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213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Презентация результатов борду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Freeform 20"/>
          <p:cNvSpPr/>
          <p:nvPr/>
        </p:nvSpPr>
        <p:spPr>
          <a:xfrm>
            <a:off x="504720" y="4365720"/>
            <a:ext cx="8139240" cy="366480"/>
          </a:xfrm>
          <a:custGeom>
            <a:avLst/>
            <a:gdLst/>
            <a:ahLst/>
            <a:rect l="l" t="t" r="r" b="b"/>
            <a:pathLst>
              <a:path w="22608" h="1018">
                <a:moveTo>
                  <a:pt x="0" y="0"/>
                </a:moveTo>
                <a:lnTo>
                  <a:pt x="22607" y="0"/>
                </a:lnTo>
                <a:lnTo>
                  <a:pt x="22607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Box 21"/>
          <p:cNvSpPr/>
          <p:nvPr/>
        </p:nvSpPr>
        <p:spPr>
          <a:xfrm>
            <a:off x="687240" y="4422600"/>
            <a:ext cx="77724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91913"/>
                </a:solidFill>
                <a:latin typeface="Calibri-Bold"/>
                <a:ea typeface="Calibri-Bold"/>
              </a:rPr>
              <a:t>Подключаем модули по мере зрелости — не «всё сразу», а под текущую задачу бизнеса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 Box 1"/>
          <p:cNvSpPr/>
          <p:nvPr/>
        </p:nvSpPr>
        <p:spPr>
          <a:xfrm>
            <a:off x="457200" y="36504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КЕЙС  ·  СЕТЬ ИЗ 8 ТОЧЕК В НИШЕ HORECA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Box 2"/>
          <p:cNvSpPr/>
          <p:nvPr/>
        </p:nvSpPr>
        <p:spPr>
          <a:xfrm>
            <a:off x="457200" y="731880"/>
            <a:ext cx="82296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Перешли с 4 подрядчиков на одну команду</a:t>
            </a:r>
            <a:r>
              <a:rPr b="1" lang="en-US" sz="2200" spc="-1" strike="noStrike">
                <a:solidFill>
                  <a:srgbClr val="ffffff"/>
                </a:solidFill>
                <a:latin typeface="Calibri-Bold"/>
                <a:ea typeface="Calibri-Bold"/>
              </a:rPr>
              <a:t> —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и выросли в выручке на 41% за год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Box 3"/>
          <p:cNvSpPr/>
          <p:nvPr/>
        </p:nvSpPr>
        <p:spPr>
          <a:xfrm>
            <a:off x="457200" y="1828800"/>
            <a:ext cx="393228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ДО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Box 4"/>
          <p:cNvSpPr/>
          <p:nvPr/>
        </p:nvSpPr>
        <p:spPr>
          <a:xfrm>
            <a:off x="457200" y="2149560"/>
            <a:ext cx="393228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4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подрядчика, 4 разных KPI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Бренд на сайте отличался от Instagram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Маркетолог тратил 60% времени на коммуникацию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Бюджет 1,2 млн ₽/мес без понятного P&amp;L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Box 5"/>
          <p:cNvSpPr/>
          <p:nvPr/>
        </p:nvSpPr>
        <p:spPr>
          <a:xfrm>
            <a:off x="4572000" y="1828800"/>
            <a:ext cx="4114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ЧТО СДЕЛАЛИ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Box 6"/>
          <p:cNvSpPr/>
          <p:nvPr/>
        </p:nvSpPr>
        <p:spPr>
          <a:xfrm>
            <a:off x="4572000" y="2149560"/>
            <a:ext cx="4114800" cy="16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Перенесли все функции в нашу команду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Перезапустили бренд и единый tone of voice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Внедрили дашборд с unit-экономикой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6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Сократили общий бюджет на 22%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Freeform 7"/>
          <p:cNvSpPr/>
          <p:nvPr/>
        </p:nvSpPr>
        <p:spPr>
          <a:xfrm>
            <a:off x="281160" y="3909960"/>
            <a:ext cx="8229600" cy="914400"/>
          </a:xfrm>
          <a:custGeom>
            <a:avLst/>
            <a:gdLst/>
            <a:ahLst/>
            <a:rect l="l" t="t" r="r" b="b"/>
            <a:pathLst>
              <a:path w="22862" h="2542">
                <a:moveTo>
                  <a:pt x="0" y="0"/>
                </a:moveTo>
                <a:lnTo>
                  <a:pt x="22861" y="0"/>
                </a:lnTo>
                <a:lnTo>
                  <a:pt x="22861" y="2541"/>
                </a:lnTo>
                <a:lnTo>
                  <a:pt x="0" y="2541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Box 8"/>
          <p:cNvSpPr/>
          <p:nvPr/>
        </p:nvSpPr>
        <p:spPr>
          <a:xfrm>
            <a:off x="281160" y="4032360"/>
            <a:ext cx="20574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2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+</a:t>
            </a: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41%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Box 9"/>
          <p:cNvSpPr/>
          <p:nvPr/>
        </p:nvSpPr>
        <p:spPr>
          <a:xfrm>
            <a:off x="281160" y="4527720"/>
            <a:ext cx="20574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91913"/>
                </a:solidFill>
                <a:latin typeface="Calibri"/>
                <a:ea typeface="Calibri"/>
              </a:rPr>
              <a:t>выручка за год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Box 10"/>
          <p:cNvSpPr/>
          <p:nvPr/>
        </p:nvSpPr>
        <p:spPr>
          <a:xfrm>
            <a:off x="2338560" y="4032360"/>
            <a:ext cx="20574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2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−</a:t>
            </a: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22%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Box 11"/>
          <p:cNvSpPr/>
          <p:nvPr/>
        </p:nvSpPr>
        <p:spPr>
          <a:xfrm>
            <a:off x="2338560" y="4527720"/>
            <a:ext cx="20574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91913"/>
                </a:solidFill>
                <a:latin typeface="Calibri"/>
                <a:ea typeface="Calibri"/>
              </a:rPr>
              <a:t>общий бюджет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Box 12"/>
          <p:cNvSpPr/>
          <p:nvPr/>
        </p:nvSpPr>
        <p:spPr>
          <a:xfrm>
            <a:off x="4395960" y="4032360"/>
            <a:ext cx="20574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2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×</a:t>
            </a: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3,1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Box 13"/>
          <p:cNvSpPr/>
          <p:nvPr/>
        </p:nvSpPr>
        <p:spPr>
          <a:xfrm>
            <a:off x="4395960" y="4527720"/>
            <a:ext cx="20574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91913"/>
                </a:solidFill>
                <a:latin typeface="Calibri"/>
                <a:ea typeface="Calibri"/>
              </a:rPr>
              <a:t>ROMI vs прошлый год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Box 14"/>
          <p:cNvSpPr/>
          <p:nvPr/>
        </p:nvSpPr>
        <p:spPr>
          <a:xfrm>
            <a:off x="6453360" y="4032360"/>
            <a:ext cx="2057400" cy="50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2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12</a:t>
            </a: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 </a:t>
            </a:r>
            <a:r>
              <a:rPr b="1" lang="en-US" sz="2400" spc="-1" strike="noStrike">
                <a:solidFill>
                  <a:srgbClr val="091913"/>
                </a:solidFill>
                <a:latin typeface="Calibri-Bold"/>
                <a:ea typeface="Calibri-Bold"/>
              </a:rPr>
              <a:t>мес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Box 15"/>
          <p:cNvSpPr/>
          <p:nvPr/>
        </p:nvSpPr>
        <p:spPr>
          <a:xfrm>
            <a:off x="6453360" y="4527720"/>
            <a:ext cx="20574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91913"/>
                </a:solidFill>
                <a:latin typeface="Calibri"/>
                <a:ea typeface="Calibri"/>
              </a:rPr>
              <a:t>горизонт результата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Box 16"/>
          <p:cNvSpPr/>
          <p:nvPr/>
        </p:nvSpPr>
        <p:spPr>
          <a:xfrm>
            <a:off x="281160" y="4965840"/>
            <a:ext cx="82296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2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800" spc="-1" strike="noStrike">
                <a:solidFill>
                  <a:srgbClr val="9dafa5"/>
                </a:solidFill>
                <a:latin typeface="Calibri-Italic"/>
                <a:ea typeface="Calibri-Italic"/>
              </a:rPr>
              <a:t>Контактное лицо клиента готово ответить на ваши вопросы по запросу — на встрече</a:t>
            </a:r>
            <a:r>
              <a:rPr b="0" i="1" lang="en-US" sz="800" spc="-1" strike="noStrike">
                <a:solidFill>
                  <a:srgbClr val="9dafa5"/>
                </a:solidFill>
                <a:latin typeface="Calibri-Italic"/>
                <a:ea typeface="Calibri-Italic"/>
              </a:rPr>
              <a:t>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Picture 17" descr=""/>
          <p:cNvPicPr/>
          <p:nvPr/>
        </p:nvPicPr>
        <p:blipFill>
          <a:blip r:embed="rId1"/>
          <a:stretch/>
        </p:blipFill>
        <p:spPr>
          <a:xfrm>
            <a:off x="7843680" y="3897360"/>
            <a:ext cx="1397160" cy="1395360"/>
          </a:xfrm>
          <a:prstGeom prst="rect">
            <a:avLst/>
          </a:prstGeom>
          <a:ln w="0">
            <a:noFill/>
          </a:ln>
        </p:spPr>
      </p:pic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КАК МЫ РАБОТАЕМ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Box 2"/>
          <p:cNvSpPr/>
          <p:nvPr/>
        </p:nvSpPr>
        <p:spPr>
          <a:xfrm>
            <a:off x="457200" y="639720"/>
            <a:ext cx="822960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Модель «продлевающийся годовой контракт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»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07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Line 4"/>
          <p:cNvSpPr/>
          <p:nvPr/>
        </p:nvSpPr>
        <p:spPr>
          <a:xfrm>
            <a:off x="914400" y="2789280"/>
            <a:ext cx="7315200" cy="1440"/>
          </a:xfrm>
          <a:prstGeom prst="line">
            <a:avLst/>
          </a:prstGeom>
          <a:ln w="25560">
            <a:solidFill>
              <a:srgbClr val="0fb98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Freeform 5"/>
          <p:cNvSpPr/>
          <p:nvPr/>
        </p:nvSpPr>
        <p:spPr>
          <a:xfrm>
            <a:off x="1241280" y="2658960"/>
            <a:ext cx="262080" cy="262080"/>
          </a:xfrm>
          <a:custGeom>
            <a:avLst/>
            <a:gdLst/>
            <a:ahLst/>
            <a:rect l="l" t="t" r="r" b="b"/>
            <a:pathLst>
              <a:path w="726" h="726">
                <a:moveTo>
                  <a:pt x="596" y="128"/>
                </a:moveTo>
                <a:cubicBezTo>
                  <a:pt x="725" y="257"/>
                  <a:pt x="725" y="467"/>
                  <a:pt x="596" y="596"/>
                </a:cubicBezTo>
                <a:cubicBezTo>
                  <a:pt x="467" y="725"/>
                  <a:pt x="257" y="725"/>
                  <a:pt x="128" y="596"/>
                </a:cubicBezTo>
                <a:cubicBezTo>
                  <a:pt x="0" y="467"/>
                  <a:pt x="0" y="257"/>
                  <a:pt x="128" y="128"/>
                </a:cubicBezTo>
                <a:cubicBezTo>
                  <a:pt x="257" y="0"/>
                  <a:pt x="467" y="0"/>
                  <a:pt x="596" y="128"/>
                </a:cubicBezTo>
              </a:path>
            </a:pathLst>
          </a:custGeom>
          <a:solidFill>
            <a:srgbClr val="0fb981"/>
          </a:solidFill>
          <a:ln w="25560">
            <a:solidFill>
              <a:srgbClr val="fffff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Box 6"/>
          <p:cNvSpPr/>
          <p:nvPr/>
        </p:nvSpPr>
        <p:spPr>
          <a:xfrm>
            <a:off x="457200" y="1782720"/>
            <a:ext cx="182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Месяц 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Box 7"/>
          <p:cNvSpPr/>
          <p:nvPr/>
        </p:nvSpPr>
        <p:spPr>
          <a:xfrm>
            <a:off x="457200" y="2057400"/>
            <a:ext cx="1828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e1e17"/>
                </a:solidFill>
                <a:latin typeface="Calibri-Bold"/>
                <a:ea typeface="Calibri-Bold"/>
              </a:rPr>
              <a:t>Погружение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Box 8"/>
          <p:cNvSpPr/>
          <p:nvPr/>
        </p:nvSpPr>
        <p:spPr>
          <a:xfrm>
            <a:off x="411120" y="3063960"/>
            <a:ext cx="19209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Аудит, передача функций, единая стратегия и план на год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Freeform 9"/>
          <p:cNvSpPr/>
          <p:nvPr/>
        </p:nvSpPr>
        <p:spPr>
          <a:xfrm>
            <a:off x="3298680" y="2658960"/>
            <a:ext cx="262080" cy="262080"/>
          </a:xfrm>
          <a:custGeom>
            <a:avLst/>
            <a:gdLst/>
            <a:ahLst/>
            <a:rect l="l" t="t" r="r" b="b"/>
            <a:pathLst>
              <a:path w="726" h="726">
                <a:moveTo>
                  <a:pt x="596" y="128"/>
                </a:moveTo>
                <a:cubicBezTo>
                  <a:pt x="725" y="257"/>
                  <a:pt x="725" y="467"/>
                  <a:pt x="596" y="596"/>
                </a:cubicBezTo>
                <a:cubicBezTo>
                  <a:pt x="467" y="725"/>
                  <a:pt x="257" y="725"/>
                  <a:pt x="128" y="596"/>
                </a:cubicBezTo>
                <a:cubicBezTo>
                  <a:pt x="0" y="467"/>
                  <a:pt x="0" y="257"/>
                  <a:pt x="128" y="128"/>
                </a:cubicBezTo>
                <a:cubicBezTo>
                  <a:pt x="257" y="0"/>
                  <a:pt x="467" y="0"/>
                  <a:pt x="596" y="128"/>
                </a:cubicBezTo>
              </a:path>
            </a:pathLst>
          </a:custGeom>
          <a:solidFill>
            <a:srgbClr val="0fb981"/>
          </a:solidFill>
          <a:ln w="25560">
            <a:solidFill>
              <a:srgbClr val="fffff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Box 10"/>
          <p:cNvSpPr/>
          <p:nvPr/>
        </p:nvSpPr>
        <p:spPr>
          <a:xfrm>
            <a:off x="2514600" y="1782720"/>
            <a:ext cx="182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Мес. 2–3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Box 11"/>
          <p:cNvSpPr/>
          <p:nvPr/>
        </p:nvSpPr>
        <p:spPr>
          <a:xfrm>
            <a:off x="2514600" y="2057400"/>
            <a:ext cx="1828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e1e17"/>
                </a:solidFill>
                <a:latin typeface="Calibri-Bold"/>
                <a:ea typeface="Calibri-Bold"/>
              </a:rPr>
              <a:t>Запуск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Box 12"/>
          <p:cNvSpPr/>
          <p:nvPr/>
        </p:nvSpPr>
        <p:spPr>
          <a:xfrm>
            <a:off x="2468520" y="3063960"/>
            <a:ext cx="19209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Активация всех модулей, единый дашборд, первые цифры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Freeform 13"/>
          <p:cNvSpPr/>
          <p:nvPr/>
        </p:nvSpPr>
        <p:spPr>
          <a:xfrm>
            <a:off x="5356080" y="2658960"/>
            <a:ext cx="262080" cy="262080"/>
          </a:xfrm>
          <a:custGeom>
            <a:avLst/>
            <a:gdLst/>
            <a:ahLst/>
            <a:rect l="l" t="t" r="r" b="b"/>
            <a:pathLst>
              <a:path w="726" h="726">
                <a:moveTo>
                  <a:pt x="596" y="128"/>
                </a:moveTo>
                <a:cubicBezTo>
                  <a:pt x="725" y="257"/>
                  <a:pt x="725" y="467"/>
                  <a:pt x="596" y="596"/>
                </a:cubicBezTo>
                <a:cubicBezTo>
                  <a:pt x="467" y="725"/>
                  <a:pt x="257" y="725"/>
                  <a:pt x="128" y="596"/>
                </a:cubicBezTo>
                <a:cubicBezTo>
                  <a:pt x="0" y="467"/>
                  <a:pt x="0" y="257"/>
                  <a:pt x="128" y="128"/>
                </a:cubicBezTo>
                <a:cubicBezTo>
                  <a:pt x="257" y="0"/>
                  <a:pt x="467" y="0"/>
                  <a:pt x="596" y="128"/>
                </a:cubicBezTo>
              </a:path>
            </a:pathLst>
          </a:custGeom>
          <a:solidFill>
            <a:srgbClr val="0fb981"/>
          </a:solidFill>
          <a:ln w="25560">
            <a:solidFill>
              <a:srgbClr val="fffff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Box 14"/>
          <p:cNvSpPr/>
          <p:nvPr/>
        </p:nvSpPr>
        <p:spPr>
          <a:xfrm>
            <a:off x="4572000" y="1782720"/>
            <a:ext cx="182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Мес. 4–9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Box 15"/>
          <p:cNvSpPr/>
          <p:nvPr/>
        </p:nvSpPr>
        <p:spPr>
          <a:xfrm>
            <a:off x="4572000" y="2057400"/>
            <a:ext cx="1828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e1e17"/>
                </a:solidFill>
                <a:latin typeface="Calibri-Bold"/>
                <a:ea typeface="Calibri-Bold"/>
              </a:rPr>
              <a:t>Рост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Box 16"/>
          <p:cNvSpPr/>
          <p:nvPr/>
        </p:nvSpPr>
        <p:spPr>
          <a:xfrm>
            <a:off x="4525920" y="3063960"/>
            <a:ext cx="19209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Масштабирование того, что работает. Отказ от неработающего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Freeform 17"/>
          <p:cNvSpPr/>
          <p:nvPr/>
        </p:nvSpPr>
        <p:spPr>
          <a:xfrm>
            <a:off x="7413480" y="2658960"/>
            <a:ext cx="262080" cy="262080"/>
          </a:xfrm>
          <a:custGeom>
            <a:avLst/>
            <a:gdLst/>
            <a:ahLst/>
            <a:rect l="l" t="t" r="r" b="b"/>
            <a:pathLst>
              <a:path w="726" h="726">
                <a:moveTo>
                  <a:pt x="596" y="128"/>
                </a:moveTo>
                <a:cubicBezTo>
                  <a:pt x="725" y="257"/>
                  <a:pt x="725" y="467"/>
                  <a:pt x="596" y="596"/>
                </a:cubicBezTo>
                <a:cubicBezTo>
                  <a:pt x="467" y="725"/>
                  <a:pt x="257" y="725"/>
                  <a:pt x="128" y="596"/>
                </a:cubicBezTo>
                <a:cubicBezTo>
                  <a:pt x="0" y="467"/>
                  <a:pt x="0" y="257"/>
                  <a:pt x="128" y="128"/>
                </a:cubicBezTo>
                <a:cubicBezTo>
                  <a:pt x="257" y="0"/>
                  <a:pt x="467" y="0"/>
                  <a:pt x="596" y="128"/>
                </a:cubicBezTo>
              </a:path>
            </a:pathLst>
          </a:custGeom>
          <a:solidFill>
            <a:srgbClr val="0fb981"/>
          </a:solidFill>
          <a:ln w="25560">
            <a:solidFill>
              <a:srgbClr val="fffff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Box 18"/>
          <p:cNvSpPr/>
          <p:nvPr/>
        </p:nvSpPr>
        <p:spPr>
          <a:xfrm>
            <a:off x="6629400" y="1782720"/>
            <a:ext cx="1828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Мес. 10–12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Box 19"/>
          <p:cNvSpPr/>
          <p:nvPr/>
        </p:nvSpPr>
        <p:spPr>
          <a:xfrm>
            <a:off x="6629400" y="2057400"/>
            <a:ext cx="18288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e1e17"/>
                </a:solidFill>
                <a:latin typeface="Calibri-Bold"/>
                <a:ea typeface="Calibri-Bold"/>
              </a:rPr>
              <a:t>Оптимизация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Box 20"/>
          <p:cNvSpPr/>
          <p:nvPr/>
        </p:nvSpPr>
        <p:spPr>
          <a:xfrm>
            <a:off x="6583320" y="3063960"/>
            <a:ext cx="192096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algn="ct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P&amp;L по году, план на следующий, расширение команды клиента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Box 21"/>
          <p:cNvSpPr/>
          <p:nvPr/>
        </p:nvSpPr>
        <p:spPr>
          <a:xfrm>
            <a:off x="457200" y="4572000"/>
            <a:ext cx="81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100" spc="-1" strike="noStrike">
                <a:solidFill>
                  <a:srgbClr val="0e1e17"/>
                </a:solidFill>
                <a:latin typeface="Calibri-Italic"/>
                <a:ea typeface="Calibri-Italic"/>
              </a:rPr>
              <a:t>Контракт продлевается каждые 3 месяца — нет lock-in. Если результат не устраивает, расходимся без штрафов</a:t>
            </a:r>
            <a:r>
              <a:rPr b="0" i="1" lang="en-US" sz="1100" spc="-1" strike="noStrike">
                <a:solidFill>
                  <a:srgbClr val="0e1e17"/>
                </a:solidFill>
                <a:latin typeface="Calibri-Italic"/>
                <a:ea typeface="Calibri-Italic"/>
              </a:rPr>
              <a:t>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7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ВОЗРАЖЕНИЕ №1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Box 2"/>
          <p:cNvSpPr/>
          <p:nvPr/>
        </p:nvSpPr>
        <p:spPr>
          <a:xfrm>
            <a:off x="457200" y="639720"/>
            <a:ext cx="8229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«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У нас уже есть подрядчики или inhouse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»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08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Box 4"/>
          <p:cNvSpPr/>
          <p:nvPr/>
        </p:nvSpPr>
        <p:spPr>
          <a:xfrm>
            <a:off x="503280" y="1554120"/>
            <a:ext cx="81374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3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Это нормально. И это не отменяет смысла поговорить</a:t>
            </a:r>
            <a:r>
              <a:rPr b="0" i="1" lang="en-US" sz="13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Freeform 5"/>
          <p:cNvSpPr/>
          <p:nvPr/>
        </p:nvSpPr>
        <p:spPr>
          <a:xfrm>
            <a:off x="503280" y="1913040"/>
            <a:ext cx="8139240" cy="777600"/>
          </a:xfrm>
          <a:custGeom>
            <a:avLst/>
            <a:gdLst/>
            <a:ahLst/>
            <a:rect l="l" t="t" r="r" b="b"/>
            <a:pathLst>
              <a:path w="22608" h="2161">
                <a:moveTo>
                  <a:pt x="0" y="0"/>
                </a:moveTo>
                <a:lnTo>
                  <a:pt x="22607" y="0"/>
                </a:lnTo>
                <a:lnTo>
                  <a:pt x="22607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Freeform 6"/>
          <p:cNvSpPr/>
          <p:nvPr/>
        </p:nvSpPr>
        <p:spPr>
          <a:xfrm>
            <a:off x="503280" y="1913040"/>
            <a:ext cx="73080" cy="777600"/>
          </a:xfrm>
          <a:custGeom>
            <a:avLst/>
            <a:gdLst/>
            <a:ahLst/>
            <a:rect l="l" t="t" r="r" b="b"/>
            <a:pathLst>
              <a:path w="205" h="2161">
                <a:moveTo>
                  <a:pt x="0" y="0"/>
                </a:moveTo>
                <a:lnTo>
                  <a:pt x="204" y="0"/>
                </a:lnTo>
                <a:lnTo>
                  <a:pt x="204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Box 7"/>
          <p:cNvSpPr/>
          <p:nvPr/>
        </p:nvSpPr>
        <p:spPr>
          <a:xfrm>
            <a:off x="685800" y="2062080"/>
            <a:ext cx="78645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49668"/>
                </a:solidFill>
                <a:latin typeface="Calibri-Bold"/>
                <a:ea typeface="Calibri-Bold"/>
              </a:rPr>
              <a:t>Если подрядчики работают хорошо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Box 8"/>
          <p:cNvSpPr/>
          <p:nvPr/>
        </p:nvSpPr>
        <p:spPr>
          <a:xfrm>
            <a:off x="685800" y="2332080"/>
            <a:ext cx="786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Мы не ломаем то, что работает. Берём только нехватающие функции (например, стратегия + аналитика), оставляя текущих исполнителей. Главное — у вас появится единая координация и единый P&amp;L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Freeform 9"/>
          <p:cNvSpPr/>
          <p:nvPr/>
        </p:nvSpPr>
        <p:spPr>
          <a:xfrm>
            <a:off x="503280" y="2781360"/>
            <a:ext cx="8139240" cy="777960"/>
          </a:xfrm>
          <a:custGeom>
            <a:avLst/>
            <a:gdLst/>
            <a:ahLst/>
            <a:rect l="l" t="t" r="r" b="b"/>
            <a:pathLst>
              <a:path w="22608" h="2161">
                <a:moveTo>
                  <a:pt x="0" y="0"/>
                </a:moveTo>
                <a:lnTo>
                  <a:pt x="22607" y="0"/>
                </a:lnTo>
                <a:lnTo>
                  <a:pt x="22607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Freeform 10"/>
          <p:cNvSpPr/>
          <p:nvPr/>
        </p:nvSpPr>
        <p:spPr>
          <a:xfrm>
            <a:off x="503280" y="2781360"/>
            <a:ext cx="73080" cy="777960"/>
          </a:xfrm>
          <a:custGeom>
            <a:avLst/>
            <a:gdLst/>
            <a:ahLst/>
            <a:rect l="l" t="t" r="r" b="b"/>
            <a:pathLst>
              <a:path w="205" h="2161">
                <a:moveTo>
                  <a:pt x="0" y="0"/>
                </a:moveTo>
                <a:lnTo>
                  <a:pt x="204" y="0"/>
                </a:lnTo>
                <a:lnTo>
                  <a:pt x="204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Box 11"/>
          <p:cNvSpPr/>
          <p:nvPr/>
        </p:nvSpPr>
        <p:spPr>
          <a:xfrm>
            <a:off x="685800" y="2930400"/>
            <a:ext cx="78645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49668"/>
                </a:solidFill>
                <a:latin typeface="Calibri-Bold"/>
                <a:ea typeface="Calibri-Bold"/>
              </a:rPr>
              <a:t>Если подрядчики работают плохо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Box 12"/>
          <p:cNvSpPr/>
          <p:nvPr/>
        </p:nvSpPr>
        <p:spPr>
          <a:xfrm>
            <a:off x="685800" y="3201840"/>
            <a:ext cx="786456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Вы это уже чувствуете, но менять страшно. Делаем плавный переход за 30–45 дней без потери темпа: сначала входим как «надсмотр», потом постепенно перенимаем функции. Никаких пауз в коммуникациях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Freeform 13"/>
          <p:cNvSpPr/>
          <p:nvPr/>
        </p:nvSpPr>
        <p:spPr>
          <a:xfrm>
            <a:off x="503280" y="3649680"/>
            <a:ext cx="8139240" cy="777960"/>
          </a:xfrm>
          <a:custGeom>
            <a:avLst/>
            <a:gdLst/>
            <a:ahLst/>
            <a:rect l="l" t="t" r="r" b="b"/>
            <a:pathLst>
              <a:path w="22608" h="2161">
                <a:moveTo>
                  <a:pt x="0" y="0"/>
                </a:moveTo>
                <a:lnTo>
                  <a:pt x="22607" y="0"/>
                </a:lnTo>
                <a:lnTo>
                  <a:pt x="22607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Freeform 14"/>
          <p:cNvSpPr/>
          <p:nvPr/>
        </p:nvSpPr>
        <p:spPr>
          <a:xfrm>
            <a:off x="503280" y="3649680"/>
            <a:ext cx="73080" cy="777960"/>
          </a:xfrm>
          <a:custGeom>
            <a:avLst/>
            <a:gdLst/>
            <a:ahLst/>
            <a:rect l="l" t="t" r="r" b="b"/>
            <a:pathLst>
              <a:path w="205" h="2161">
                <a:moveTo>
                  <a:pt x="0" y="0"/>
                </a:moveTo>
                <a:lnTo>
                  <a:pt x="204" y="0"/>
                </a:lnTo>
                <a:lnTo>
                  <a:pt x="204" y="2160"/>
                </a:lnTo>
                <a:lnTo>
                  <a:pt x="0" y="2160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Box 15"/>
          <p:cNvSpPr/>
          <p:nvPr/>
        </p:nvSpPr>
        <p:spPr>
          <a:xfrm>
            <a:off x="685800" y="3800520"/>
            <a:ext cx="786456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49668"/>
                </a:solidFill>
                <a:latin typeface="Calibri-Bold"/>
                <a:ea typeface="Calibri-Bold"/>
              </a:rPr>
              <a:t>Если есть inhouse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Box 16"/>
          <p:cNvSpPr/>
          <p:nvPr/>
        </p:nvSpPr>
        <p:spPr>
          <a:xfrm>
            <a:off x="685800" y="4070520"/>
            <a:ext cx="7864560" cy="34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Inhouse — это головы, мы — руки и экспертиза. Берём операционку, ускоряем выпуск кампаний, даём доступ к нашим бенчмаркам. CMO освобождается от рутины и занимается стратегией</a:t>
            </a:r>
            <a:r>
              <a:rPr b="0" lang="en-US" sz="1000" spc="-1" strike="noStrike">
                <a:solidFill>
                  <a:srgbClr val="0e1e17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Box 17"/>
          <p:cNvSpPr/>
          <p:nvPr/>
        </p:nvSpPr>
        <p:spPr>
          <a:xfrm>
            <a:off x="503280" y="4632480"/>
            <a:ext cx="81374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i="1" lang="en-US" sz="1000" spc="-1" strike="noStrike">
                <a:solidFill>
                  <a:srgbClr val="049668"/>
                </a:solidFill>
                <a:latin typeface="Calibri-BoldItalic"/>
                <a:ea typeface="Calibri-BoldItalic"/>
              </a:rPr>
              <a:t>→  </a:t>
            </a:r>
            <a:r>
              <a:rPr b="1" i="1" lang="en-US" sz="1000" spc="-1" strike="noStrike">
                <a:solidFill>
                  <a:srgbClr val="049668"/>
                </a:solidFill>
                <a:latin typeface="Calibri-BoldItalic"/>
                <a:ea typeface="Calibri-BoldItalic"/>
              </a:rPr>
              <a:t>В любом сценарии первый шаг бесплатный: аудит того, как сейчас устроен ваш маркетинг</a:t>
            </a:r>
            <a:r>
              <a:rPr b="1" i="1" lang="en-US" sz="1000" spc="-1" strike="noStrike">
                <a:solidFill>
                  <a:srgbClr val="049668"/>
                </a:solidFill>
                <a:latin typeface="Calibri-BoldItalic"/>
                <a:ea typeface="Calibri-BoldItal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5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ВОЗРАЖЕНИЕ №2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Box 2"/>
          <p:cNvSpPr/>
          <p:nvPr/>
        </p:nvSpPr>
        <p:spPr>
          <a:xfrm>
            <a:off x="457200" y="639720"/>
            <a:ext cx="8229600" cy="10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«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Не сейчас — сначала разберёмся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с текущим, потом подумаем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»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09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Box 4"/>
          <p:cNvSpPr/>
          <p:nvPr/>
        </p:nvSpPr>
        <p:spPr>
          <a:xfrm>
            <a:off x="503280" y="1770120"/>
            <a:ext cx="813744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65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3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Ловушка отложенного решения: чем дольше «разбираетесь», тем дороже вход</a:t>
            </a:r>
            <a:r>
              <a:rPr b="0" i="1" lang="en-US" sz="13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Box 5"/>
          <p:cNvSpPr/>
          <p:nvPr/>
        </p:nvSpPr>
        <p:spPr>
          <a:xfrm>
            <a:off x="503280" y="2241720"/>
            <a:ext cx="3932280" cy="40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dc2525"/>
                </a:solidFill>
                <a:latin typeface="Calibri-Bold"/>
                <a:ea typeface="Calibri-Bold"/>
              </a:rPr>
              <a:t>ЧТО ПРОИСХОДИТ ПОКА ВЫ «ДУМАЕТЕ</a:t>
            </a:r>
            <a:r>
              <a:rPr b="1" lang="en-US" sz="1000" spc="-1" strike="noStrike">
                <a:solidFill>
                  <a:srgbClr val="dc2525"/>
                </a:solidFill>
                <a:latin typeface="Calibri-Bold"/>
                <a:ea typeface="Calibri-Bold"/>
              </a:rPr>
              <a:t>»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Freeform 6"/>
          <p:cNvSpPr/>
          <p:nvPr/>
        </p:nvSpPr>
        <p:spPr>
          <a:xfrm>
            <a:off x="503280" y="2538360"/>
            <a:ext cx="3932280" cy="366840"/>
          </a:xfrm>
          <a:custGeom>
            <a:avLst/>
            <a:gdLst/>
            <a:ahLst/>
            <a:rect l="l" t="t" r="r" b="b"/>
            <a:pathLst>
              <a:path w="10924" h="1018">
                <a:moveTo>
                  <a:pt x="0" y="0"/>
                </a:moveTo>
                <a:lnTo>
                  <a:pt x="10923" y="0"/>
                </a:lnTo>
                <a:lnTo>
                  <a:pt x="10923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Box 7"/>
          <p:cNvSpPr/>
          <p:nvPr/>
        </p:nvSpPr>
        <p:spPr>
          <a:xfrm>
            <a:off x="593640" y="2654280"/>
            <a:ext cx="7779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+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1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мес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Box 8"/>
          <p:cNvSpPr/>
          <p:nvPr/>
        </p:nvSpPr>
        <p:spPr>
          <a:xfrm>
            <a:off x="1417680" y="2657520"/>
            <a:ext cx="29718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−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180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–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250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 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тыс ₽ из-за дублирования и нестыковок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Freeform 9"/>
          <p:cNvSpPr/>
          <p:nvPr/>
        </p:nvSpPr>
        <p:spPr>
          <a:xfrm>
            <a:off x="503280" y="2949480"/>
            <a:ext cx="3932280" cy="366840"/>
          </a:xfrm>
          <a:custGeom>
            <a:avLst/>
            <a:gdLst/>
            <a:ahLst/>
            <a:rect l="l" t="t" r="r" b="b"/>
            <a:pathLst>
              <a:path w="10924" h="1018">
                <a:moveTo>
                  <a:pt x="0" y="0"/>
                </a:moveTo>
                <a:lnTo>
                  <a:pt x="10923" y="0"/>
                </a:lnTo>
                <a:lnTo>
                  <a:pt x="10923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Box 10"/>
          <p:cNvSpPr/>
          <p:nvPr/>
        </p:nvSpPr>
        <p:spPr>
          <a:xfrm>
            <a:off x="593640" y="3065400"/>
            <a:ext cx="77796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+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3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мес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Box 11"/>
          <p:cNvSpPr/>
          <p:nvPr/>
        </p:nvSpPr>
        <p:spPr>
          <a:xfrm>
            <a:off x="1417680" y="3070080"/>
            <a:ext cx="29718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Уход 1–2 ключевых сотрудников из-за хаоса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Freeform 12"/>
          <p:cNvSpPr/>
          <p:nvPr/>
        </p:nvSpPr>
        <p:spPr>
          <a:xfrm>
            <a:off x="503280" y="3362400"/>
            <a:ext cx="3932280" cy="366480"/>
          </a:xfrm>
          <a:custGeom>
            <a:avLst/>
            <a:gdLst/>
            <a:ahLst/>
            <a:rect l="l" t="t" r="r" b="b"/>
            <a:pathLst>
              <a:path w="10924" h="1018">
                <a:moveTo>
                  <a:pt x="0" y="0"/>
                </a:moveTo>
                <a:lnTo>
                  <a:pt x="10923" y="0"/>
                </a:lnTo>
                <a:lnTo>
                  <a:pt x="10923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Box 13"/>
          <p:cNvSpPr/>
          <p:nvPr/>
        </p:nvSpPr>
        <p:spPr>
          <a:xfrm>
            <a:off x="593640" y="3478320"/>
            <a:ext cx="7779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+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6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мес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Box 14"/>
          <p:cNvSpPr/>
          <p:nvPr/>
        </p:nvSpPr>
        <p:spPr>
          <a:xfrm>
            <a:off x="1417680" y="3481560"/>
            <a:ext cx="297180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Конкуренты обогнали — отыгрывать сложнее и дороже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Freeform 15"/>
          <p:cNvSpPr/>
          <p:nvPr/>
        </p:nvSpPr>
        <p:spPr>
          <a:xfrm>
            <a:off x="503280" y="3773520"/>
            <a:ext cx="3932280" cy="366840"/>
          </a:xfrm>
          <a:custGeom>
            <a:avLst/>
            <a:gdLst/>
            <a:ahLst/>
            <a:rect l="l" t="t" r="r" b="b"/>
            <a:pathLst>
              <a:path w="10924" h="1018">
                <a:moveTo>
                  <a:pt x="0" y="0"/>
                </a:moveTo>
                <a:lnTo>
                  <a:pt x="10923" y="0"/>
                </a:lnTo>
                <a:lnTo>
                  <a:pt x="10923" y="1017"/>
                </a:lnTo>
                <a:lnTo>
                  <a:pt x="0" y="101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Box 16"/>
          <p:cNvSpPr/>
          <p:nvPr/>
        </p:nvSpPr>
        <p:spPr>
          <a:xfrm>
            <a:off x="593640" y="3889440"/>
            <a:ext cx="77796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+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12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 </a:t>
            </a:r>
            <a:r>
              <a:rPr b="1" lang="en-US" sz="1100" spc="-1" strike="noStrike">
                <a:solidFill>
                  <a:srgbClr val="dc2525"/>
                </a:solidFill>
                <a:latin typeface="Calibri-Bold"/>
                <a:ea typeface="Calibri-Bold"/>
              </a:rPr>
              <a:t>мес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Box 17"/>
          <p:cNvSpPr/>
          <p:nvPr/>
        </p:nvSpPr>
        <p:spPr>
          <a:xfrm>
            <a:off x="1417680" y="3892680"/>
            <a:ext cx="2971800" cy="20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«</a:t>
            </a:r>
            <a:r>
              <a:rPr b="0" lang="en-US" sz="900" spc="-1" strike="noStrike">
                <a:solidFill>
                  <a:srgbClr val="0e1e17"/>
                </a:solidFill>
                <a:latin typeface="Calibri"/>
                <a:ea typeface="Calibri"/>
              </a:rPr>
              <a:t>Ремонт» обойдётся в 2–3 раза дороже, чем сейчас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Freeform 18"/>
          <p:cNvSpPr/>
          <p:nvPr/>
        </p:nvSpPr>
        <p:spPr>
          <a:xfrm>
            <a:off x="4618080" y="2173320"/>
            <a:ext cx="4024440" cy="2424240"/>
          </a:xfrm>
          <a:custGeom>
            <a:avLst/>
            <a:gdLst/>
            <a:ahLst/>
            <a:rect l="l" t="t" r="r" b="b"/>
            <a:pathLst>
              <a:path w="11178" h="6733">
                <a:moveTo>
                  <a:pt x="0" y="0"/>
                </a:moveTo>
                <a:lnTo>
                  <a:pt x="11177" y="0"/>
                </a:lnTo>
                <a:lnTo>
                  <a:pt x="11177" y="6732"/>
                </a:lnTo>
                <a:lnTo>
                  <a:pt x="0" y="6732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Box 19"/>
          <p:cNvSpPr/>
          <p:nvPr/>
        </p:nvSpPr>
        <p:spPr>
          <a:xfrm>
            <a:off x="4800600" y="2379600"/>
            <a:ext cx="3657600" cy="23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ПРЕДЛАГАЕМ ВЫХОД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Box 20"/>
          <p:cNvSpPr/>
          <p:nvPr/>
        </p:nvSpPr>
        <p:spPr>
          <a:xfrm>
            <a:off x="4800600" y="2730600"/>
            <a:ext cx="3657600" cy="6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-Italic"/>
                <a:ea typeface="Calibri-Italic"/>
              </a:rPr>
              <a:t>«</a:t>
            </a:r>
            <a:r>
              <a:rPr b="0" i="1" lang="en-US" sz="1200" spc="-1" strike="noStrike">
                <a:solidFill>
                  <a:srgbClr val="ffffff"/>
                </a:solidFill>
                <a:latin typeface="Calibri-Italic"/>
                <a:ea typeface="Calibri-Italic"/>
              </a:rPr>
              <a:t>Не подписывать контракт сейчас</a:t>
            </a:r>
            <a:r>
              <a:rPr b="0" i="1" lang="en-US" sz="1200" spc="-1" strike="noStrike">
                <a:solidFill>
                  <a:srgbClr val="ffffff"/>
                </a:solidFill>
                <a:latin typeface="Calibri-Italic"/>
                <a:ea typeface="Calibri-Italic"/>
              </a:rPr>
              <a:t>» 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200" spc="-1" strike="noStrike">
                <a:solidFill>
                  <a:srgbClr val="ffffff"/>
                </a:solidFill>
                <a:latin typeface="Calibri-Italic"/>
                <a:ea typeface="Calibri-Italic"/>
              </a:rPr>
              <a:t>и «не начинать движение» — это разные вещи</a:t>
            </a:r>
            <a:r>
              <a:rPr b="0" i="1" lang="en-US" sz="1200" spc="-1" strike="noStrike">
                <a:solidFill>
                  <a:srgbClr val="ffffff"/>
                </a:solidFill>
                <a:latin typeface="Calibri-Italic"/>
                <a:ea typeface="Calibri-Italic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Box 21"/>
          <p:cNvSpPr/>
          <p:nvPr/>
        </p:nvSpPr>
        <p:spPr>
          <a:xfrm>
            <a:off x="4800600" y="3294000"/>
            <a:ext cx="365760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Старт без обязательств</a:t>
            </a: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Box 22"/>
          <p:cNvSpPr/>
          <p:nvPr/>
        </p:nvSpPr>
        <p:spPr>
          <a:xfrm>
            <a:off x="4800600" y="3699000"/>
            <a:ext cx="3657600" cy="76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Бесплатный аудит маркетинга (5 дней)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Карта точек роста с цифрами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Решите работать — стартуем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Если нет — карта остаётся вашей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Box 23"/>
          <p:cNvSpPr/>
          <p:nvPr/>
        </p:nvSpPr>
        <p:spPr>
          <a:xfrm>
            <a:off x="503280" y="4756320"/>
            <a:ext cx="81374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i="1" lang="en-US" sz="1000" spc="-1" strike="noStrike">
                <a:solidFill>
                  <a:srgbClr val="049668"/>
                </a:solidFill>
                <a:latin typeface="Calibri-BoldItalic"/>
                <a:ea typeface="Calibri-BoldItalic"/>
              </a:rPr>
              <a:t>Это не «впаривание» — это диагностика. Решение остаётся за вами</a:t>
            </a:r>
            <a:r>
              <a:rPr b="1" i="1" lang="en-US" sz="1000" spc="-1" strike="noStrike">
                <a:solidFill>
                  <a:srgbClr val="049668"/>
                </a:solidFill>
                <a:latin typeface="Calibri-BoldItalic"/>
                <a:ea typeface="Calibri-BoldItal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ИНВЕСТИЦИЯ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Box 2"/>
          <p:cNvSpPr/>
          <p:nvPr/>
        </p:nvSpPr>
        <p:spPr>
          <a:xfrm>
            <a:off x="457200" y="639720"/>
            <a:ext cx="8229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Сколько стоит и что вы экономите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10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Freeform 4"/>
          <p:cNvSpPr/>
          <p:nvPr/>
        </p:nvSpPr>
        <p:spPr>
          <a:xfrm>
            <a:off x="504720" y="1523880"/>
            <a:ext cx="3932280" cy="3110040"/>
          </a:xfrm>
          <a:custGeom>
            <a:avLst/>
            <a:gdLst/>
            <a:ahLst/>
            <a:rect l="l" t="t" r="r" b="b"/>
            <a:pathLst>
              <a:path w="10924" h="8638">
                <a:moveTo>
                  <a:pt x="0" y="0"/>
                </a:moveTo>
                <a:lnTo>
                  <a:pt x="10923" y="0"/>
                </a:lnTo>
                <a:lnTo>
                  <a:pt x="10923" y="8637"/>
                </a:lnTo>
                <a:lnTo>
                  <a:pt x="0" y="863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 Box 5"/>
          <p:cNvSpPr/>
          <p:nvPr/>
        </p:nvSpPr>
        <p:spPr>
          <a:xfrm>
            <a:off x="687240" y="1731960"/>
            <a:ext cx="35658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КОМПЛЕКСНЫЙ МАРКЕТИНГ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Box 6"/>
          <p:cNvSpPr/>
          <p:nvPr/>
        </p:nvSpPr>
        <p:spPr>
          <a:xfrm>
            <a:off x="687240" y="2098800"/>
            <a:ext cx="356580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3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200" spc="-1" strike="noStrike">
                <a:solidFill>
                  <a:srgbClr val="0e1e17"/>
                </a:solidFill>
                <a:latin typeface="Calibri-Bold"/>
                <a:ea typeface="Calibri-Bold"/>
              </a:rPr>
              <a:t>от 580 000 ₽/мес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Box 7"/>
          <p:cNvSpPr/>
          <p:nvPr/>
        </p:nvSpPr>
        <p:spPr>
          <a:xfrm>
            <a:off x="687240" y="2736720"/>
            <a:ext cx="356580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63746c"/>
                </a:solidFill>
                <a:latin typeface="Calibri"/>
                <a:ea typeface="Calibri"/>
              </a:rPr>
              <a:t>ежемесячная инвестиция в полную команду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Box 8"/>
          <p:cNvSpPr/>
          <p:nvPr/>
        </p:nvSpPr>
        <p:spPr>
          <a:xfrm>
            <a:off x="687240" y="3265560"/>
            <a:ext cx="3565800" cy="117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41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Команда из 6+ специалистов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41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Senior-стратег как лидер проекта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41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Все функции маркетинга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41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Дашборд + еженедельные созвоны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414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✓  </a:t>
            </a:r>
            <a:r>
              <a:rPr b="0" lang="en-US" sz="1100" spc="-1" strike="noStrike">
                <a:solidFill>
                  <a:srgbClr val="0e1e17"/>
                </a:solidFill>
                <a:latin typeface="Calibri"/>
                <a:ea typeface="Calibri"/>
              </a:rPr>
              <a:t>Первый месяц — без обязательств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Freeform 9"/>
          <p:cNvSpPr/>
          <p:nvPr/>
        </p:nvSpPr>
        <p:spPr>
          <a:xfrm>
            <a:off x="4710240" y="1523880"/>
            <a:ext cx="3932280" cy="3110040"/>
          </a:xfrm>
          <a:custGeom>
            <a:avLst/>
            <a:gdLst/>
            <a:ahLst/>
            <a:rect l="l" t="t" r="r" b="b"/>
            <a:pathLst>
              <a:path w="10924" h="8638">
                <a:moveTo>
                  <a:pt x="0" y="0"/>
                </a:moveTo>
                <a:lnTo>
                  <a:pt x="10923" y="0"/>
                </a:lnTo>
                <a:lnTo>
                  <a:pt x="10923" y="8637"/>
                </a:lnTo>
                <a:lnTo>
                  <a:pt x="0" y="8637"/>
                </a:lnTo>
                <a:lnTo>
                  <a:pt x="0" y="0"/>
                </a:lnTo>
              </a:path>
            </a:pathLst>
          </a:custGeom>
          <a:solidFill>
            <a:srgbClr val="091913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Box 10"/>
          <p:cNvSpPr/>
          <p:nvPr/>
        </p:nvSpPr>
        <p:spPr>
          <a:xfrm>
            <a:off x="4894200" y="1731960"/>
            <a:ext cx="35654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ЧТО ВЫ ЭКОНОМИТЕ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Box 11"/>
          <p:cNvSpPr/>
          <p:nvPr/>
        </p:nvSpPr>
        <p:spPr>
          <a:xfrm>
            <a:off x="4894200" y="2098800"/>
            <a:ext cx="3565440" cy="64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3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≈ </a:t>
            </a: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330</a:t>
            </a: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 </a:t>
            </a: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000</a:t>
            </a: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 ₽/</a:t>
            </a: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мес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Box 12"/>
          <p:cNvSpPr/>
          <p:nvPr/>
        </p:nvSpPr>
        <p:spPr>
          <a:xfrm>
            <a:off x="4894200" y="2736720"/>
            <a:ext cx="35654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76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vs. модель «5 разных подрядчиков</a:t>
            </a:r>
            <a:r>
              <a:rPr b="0" lang="en-US" sz="1100" spc="-1" strike="noStrike">
                <a:solidFill>
                  <a:srgbClr val="9dafa5"/>
                </a:solidFill>
                <a:latin typeface="Calibri"/>
                <a:ea typeface="Calibri"/>
              </a:rPr>
              <a:t>»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Box 13"/>
          <p:cNvSpPr/>
          <p:nvPr/>
        </p:nvSpPr>
        <p:spPr>
          <a:xfrm>
            <a:off x="4894200" y="3147840"/>
            <a:ext cx="3565440" cy="28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За счёт чего</a:t>
            </a: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Box 14"/>
          <p:cNvSpPr/>
          <p:nvPr/>
        </p:nvSpPr>
        <p:spPr>
          <a:xfrm>
            <a:off x="4894200" y="3619440"/>
            <a:ext cx="356544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Нет дублирования стратегии и аналитики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Нет «скрытых» ставок за координацию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Освобождается ~20 ч/мес у команды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312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→  </a:t>
            </a:r>
            <a:r>
              <a:rPr b="0" lang="en-US" sz="1000" spc="-1" strike="noStrike">
                <a:solidFill>
                  <a:srgbClr val="9dafa5"/>
                </a:solidFill>
                <a:latin typeface="Calibri"/>
                <a:ea typeface="Calibri"/>
              </a:rPr>
              <a:t>Бюджет идёт в результат, а не в швы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Box 15"/>
          <p:cNvSpPr/>
          <p:nvPr/>
        </p:nvSpPr>
        <p:spPr>
          <a:xfrm>
            <a:off x="504720" y="4753080"/>
            <a:ext cx="8137800" cy="23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22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8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*</a:t>
            </a:r>
            <a:r>
              <a:rPr b="0" i="1" lang="en-US" sz="8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Стоимость зависит от объёма функций и каналов. Старт возможен с урезанного пакета 380 000 ₽/мес</a:t>
            </a:r>
            <a:r>
              <a:rPr b="0" i="1" lang="en-US" sz="800" spc="-1" strike="noStrike">
                <a:solidFill>
                  <a:srgbClr val="63746c"/>
                </a:solidFill>
                <a:latin typeface="Calibri-Italic"/>
                <a:ea typeface="Calibri-Italic"/>
              </a:rPr>
              <a:t>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Picture 38" descr=""/>
          <p:cNvPicPr/>
          <p:nvPr/>
        </p:nvPicPr>
        <p:blipFill>
          <a:blip r:embed="rId1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СНИМАЕМ РИСКИ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Box 2"/>
          <p:cNvSpPr/>
          <p:nvPr/>
        </p:nvSpPr>
        <p:spPr>
          <a:xfrm>
            <a:off x="457200" y="639720"/>
            <a:ext cx="8229600" cy="96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Гарантии, чтобы вы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спокойно сказали «давайте начнём</a:t>
            </a: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»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11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Freeform 4"/>
          <p:cNvSpPr/>
          <p:nvPr/>
        </p:nvSpPr>
        <p:spPr>
          <a:xfrm>
            <a:off x="457200" y="1692360"/>
            <a:ext cx="3932280" cy="1280880"/>
          </a:xfrm>
          <a:custGeom>
            <a:avLst/>
            <a:gdLst/>
            <a:ahLst/>
            <a:rect l="l" t="t" r="r" b="b"/>
            <a:pathLst>
              <a:path w="10924" h="3558">
                <a:moveTo>
                  <a:pt x="0" y="0"/>
                </a:moveTo>
                <a:lnTo>
                  <a:pt x="10923" y="0"/>
                </a:lnTo>
                <a:lnTo>
                  <a:pt x="10923" y="3557"/>
                </a:lnTo>
                <a:lnTo>
                  <a:pt x="0" y="355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Freeform 5"/>
          <p:cNvSpPr/>
          <p:nvPr/>
        </p:nvSpPr>
        <p:spPr>
          <a:xfrm>
            <a:off x="615960" y="1895400"/>
            <a:ext cx="552600" cy="552600"/>
          </a:xfrm>
          <a:custGeom>
            <a:avLst/>
            <a:gdLst/>
            <a:ahLst/>
            <a:rect l="l" t="t" r="r" b="b"/>
            <a:pathLst>
              <a:path w="1535" h="1535">
                <a:moveTo>
                  <a:pt x="1261" y="272"/>
                </a:moveTo>
                <a:cubicBezTo>
                  <a:pt x="1534" y="545"/>
                  <a:pt x="1534" y="988"/>
                  <a:pt x="1261" y="1261"/>
                </a:cubicBezTo>
                <a:cubicBezTo>
                  <a:pt x="988" y="1534"/>
                  <a:pt x="545" y="1534"/>
                  <a:pt x="272" y="1261"/>
                </a:cubicBezTo>
                <a:cubicBezTo>
                  <a:pt x="0" y="988"/>
                  <a:pt x="0" y="545"/>
                  <a:pt x="272" y="272"/>
                </a:cubicBezTo>
                <a:cubicBezTo>
                  <a:pt x="545" y="0"/>
                  <a:pt x="988" y="0"/>
                  <a:pt x="1261" y="272"/>
                </a:cubicBezTo>
              </a:path>
            </a:pathLst>
          </a:custGeom>
          <a:solidFill>
            <a:srgbClr val="049668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Box 6"/>
          <p:cNvSpPr/>
          <p:nvPr/>
        </p:nvSpPr>
        <p:spPr>
          <a:xfrm>
            <a:off x="639720" y="192096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Box 7"/>
          <p:cNvSpPr/>
          <p:nvPr/>
        </p:nvSpPr>
        <p:spPr>
          <a:xfrm>
            <a:off x="1235160" y="1874880"/>
            <a:ext cx="3017880" cy="43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e1e17"/>
                </a:solidFill>
                <a:latin typeface="Calibri-Bold"/>
                <a:ea typeface="Calibri-Bold"/>
              </a:rPr>
              <a:t>Первый месяц — без штрафов за выход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Box 8"/>
          <p:cNvSpPr/>
          <p:nvPr/>
        </p:nvSpPr>
        <p:spPr>
          <a:xfrm>
            <a:off x="1235160" y="223992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Если за 30 дней поймёте, что не сработаемся — расстаёмся. Платите только за фактически выполненную работу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Freeform 9"/>
          <p:cNvSpPr/>
          <p:nvPr/>
        </p:nvSpPr>
        <p:spPr>
          <a:xfrm>
            <a:off x="4618080" y="1692360"/>
            <a:ext cx="3932280" cy="1280880"/>
          </a:xfrm>
          <a:custGeom>
            <a:avLst/>
            <a:gdLst/>
            <a:ahLst/>
            <a:rect l="l" t="t" r="r" b="b"/>
            <a:pathLst>
              <a:path w="10924" h="3558">
                <a:moveTo>
                  <a:pt x="0" y="0"/>
                </a:moveTo>
                <a:lnTo>
                  <a:pt x="10923" y="0"/>
                </a:lnTo>
                <a:lnTo>
                  <a:pt x="10923" y="3557"/>
                </a:lnTo>
                <a:lnTo>
                  <a:pt x="0" y="355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Freeform 10"/>
          <p:cNvSpPr/>
          <p:nvPr/>
        </p:nvSpPr>
        <p:spPr>
          <a:xfrm>
            <a:off x="4776840" y="1895400"/>
            <a:ext cx="552240" cy="552600"/>
          </a:xfrm>
          <a:custGeom>
            <a:avLst/>
            <a:gdLst/>
            <a:ahLst/>
            <a:rect l="l" t="t" r="r" b="b"/>
            <a:pathLst>
              <a:path w="1535" h="1535">
                <a:moveTo>
                  <a:pt x="1261" y="272"/>
                </a:moveTo>
                <a:cubicBezTo>
                  <a:pt x="1534" y="545"/>
                  <a:pt x="1534" y="988"/>
                  <a:pt x="1261" y="1261"/>
                </a:cubicBezTo>
                <a:cubicBezTo>
                  <a:pt x="988" y="1534"/>
                  <a:pt x="545" y="1534"/>
                  <a:pt x="272" y="1261"/>
                </a:cubicBezTo>
                <a:cubicBezTo>
                  <a:pt x="0" y="988"/>
                  <a:pt x="0" y="545"/>
                  <a:pt x="272" y="272"/>
                </a:cubicBezTo>
                <a:cubicBezTo>
                  <a:pt x="545" y="0"/>
                  <a:pt x="988" y="0"/>
                  <a:pt x="1261" y="272"/>
                </a:cubicBezTo>
              </a:path>
            </a:pathLst>
          </a:custGeom>
          <a:solidFill>
            <a:srgbClr val="049668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Box 11"/>
          <p:cNvSpPr/>
          <p:nvPr/>
        </p:nvSpPr>
        <p:spPr>
          <a:xfrm>
            <a:off x="4800600" y="192096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Box 12"/>
          <p:cNvSpPr/>
          <p:nvPr/>
        </p:nvSpPr>
        <p:spPr>
          <a:xfrm>
            <a:off x="5394240" y="1874880"/>
            <a:ext cx="3017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e1e17"/>
                </a:solidFill>
                <a:latin typeface="Calibri-Bold"/>
                <a:ea typeface="Calibri-Bold"/>
              </a:rPr>
              <a:t>Прозрачный P&amp;L каждый месяц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Box 13"/>
          <p:cNvSpPr/>
          <p:nvPr/>
        </p:nvSpPr>
        <p:spPr>
          <a:xfrm>
            <a:off x="5394240" y="223992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Финансовый отчёт по маркетингу: сколько потрачено, какие лиды, какая выручка. Никаких «чёрных коробок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».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Freeform 14"/>
          <p:cNvSpPr/>
          <p:nvPr/>
        </p:nvSpPr>
        <p:spPr>
          <a:xfrm>
            <a:off x="457200" y="3108240"/>
            <a:ext cx="3932280" cy="1281240"/>
          </a:xfrm>
          <a:custGeom>
            <a:avLst/>
            <a:gdLst/>
            <a:ahLst/>
            <a:rect l="l" t="t" r="r" b="b"/>
            <a:pathLst>
              <a:path w="10924" h="3558">
                <a:moveTo>
                  <a:pt x="0" y="0"/>
                </a:moveTo>
                <a:lnTo>
                  <a:pt x="10923" y="0"/>
                </a:lnTo>
                <a:lnTo>
                  <a:pt x="10923" y="3557"/>
                </a:lnTo>
                <a:lnTo>
                  <a:pt x="0" y="355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Freeform 15"/>
          <p:cNvSpPr/>
          <p:nvPr/>
        </p:nvSpPr>
        <p:spPr>
          <a:xfrm>
            <a:off x="615960" y="3313080"/>
            <a:ext cx="552600" cy="552600"/>
          </a:xfrm>
          <a:custGeom>
            <a:avLst/>
            <a:gdLst/>
            <a:ahLst/>
            <a:rect l="l" t="t" r="r" b="b"/>
            <a:pathLst>
              <a:path w="1535" h="1535">
                <a:moveTo>
                  <a:pt x="1261" y="272"/>
                </a:moveTo>
                <a:cubicBezTo>
                  <a:pt x="1534" y="545"/>
                  <a:pt x="1534" y="988"/>
                  <a:pt x="1261" y="1261"/>
                </a:cubicBezTo>
                <a:cubicBezTo>
                  <a:pt x="988" y="1534"/>
                  <a:pt x="545" y="1534"/>
                  <a:pt x="272" y="1261"/>
                </a:cubicBezTo>
                <a:cubicBezTo>
                  <a:pt x="0" y="988"/>
                  <a:pt x="0" y="545"/>
                  <a:pt x="272" y="272"/>
                </a:cubicBezTo>
                <a:cubicBezTo>
                  <a:pt x="545" y="0"/>
                  <a:pt x="988" y="0"/>
                  <a:pt x="1261" y="272"/>
                </a:cubicBezTo>
              </a:path>
            </a:pathLst>
          </a:custGeom>
          <a:solidFill>
            <a:srgbClr val="049668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Box 16"/>
          <p:cNvSpPr/>
          <p:nvPr/>
        </p:nvSpPr>
        <p:spPr>
          <a:xfrm>
            <a:off x="639720" y="333684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Box 17"/>
          <p:cNvSpPr/>
          <p:nvPr/>
        </p:nvSpPr>
        <p:spPr>
          <a:xfrm>
            <a:off x="1235160" y="3292560"/>
            <a:ext cx="3017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e1e17"/>
                </a:solidFill>
                <a:latin typeface="Calibri-Bold"/>
                <a:ea typeface="Calibri-Bold"/>
              </a:rPr>
              <a:t>Senior-стратег закреплён за вами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Box 18"/>
          <p:cNvSpPr/>
          <p:nvPr/>
        </p:nvSpPr>
        <p:spPr>
          <a:xfrm>
            <a:off x="1235160" y="365760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Ваш проект ведёт человек с 7+ годами опыта, не аккаунт-менеджер. Прямой канал связи, никакой бюрократии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Freeform 19"/>
          <p:cNvSpPr/>
          <p:nvPr/>
        </p:nvSpPr>
        <p:spPr>
          <a:xfrm>
            <a:off x="4618080" y="3108240"/>
            <a:ext cx="3932280" cy="1281240"/>
          </a:xfrm>
          <a:custGeom>
            <a:avLst/>
            <a:gdLst/>
            <a:ahLst/>
            <a:rect l="l" t="t" r="r" b="b"/>
            <a:pathLst>
              <a:path w="10924" h="3558">
                <a:moveTo>
                  <a:pt x="0" y="0"/>
                </a:moveTo>
                <a:lnTo>
                  <a:pt x="10923" y="0"/>
                </a:lnTo>
                <a:lnTo>
                  <a:pt x="10923" y="3557"/>
                </a:lnTo>
                <a:lnTo>
                  <a:pt x="0" y="3557"/>
                </a:lnTo>
                <a:lnTo>
                  <a:pt x="0" y="0"/>
                </a:lnTo>
              </a:path>
            </a:pathLst>
          </a:custGeom>
          <a:solidFill>
            <a:srgbClr val="f0f7f3"/>
          </a:solidFill>
          <a:ln w="6480">
            <a:solidFill>
              <a:srgbClr val="dce5df"/>
            </a:solidFill>
            <a:round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Freeform 20"/>
          <p:cNvSpPr/>
          <p:nvPr/>
        </p:nvSpPr>
        <p:spPr>
          <a:xfrm>
            <a:off x="4776840" y="3313080"/>
            <a:ext cx="552240" cy="552600"/>
          </a:xfrm>
          <a:custGeom>
            <a:avLst/>
            <a:gdLst/>
            <a:ahLst/>
            <a:rect l="l" t="t" r="r" b="b"/>
            <a:pathLst>
              <a:path w="1535" h="1535">
                <a:moveTo>
                  <a:pt x="1261" y="272"/>
                </a:moveTo>
                <a:cubicBezTo>
                  <a:pt x="1534" y="545"/>
                  <a:pt x="1534" y="988"/>
                  <a:pt x="1261" y="1261"/>
                </a:cubicBezTo>
                <a:cubicBezTo>
                  <a:pt x="988" y="1534"/>
                  <a:pt x="545" y="1534"/>
                  <a:pt x="272" y="1261"/>
                </a:cubicBezTo>
                <a:cubicBezTo>
                  <a:pt x="0" y="988"/>
                  <a:pt x="0" y="545"/>
                  <a:pt x="272" y="272"/>
                </a:cubicBezTo>
                <a:cubicBezTo>
                  <a:pt x="545" y="0"/>
                  <a:pt x="988" y="0"/>
                  <a:pt x="1261" y="272"/>
                </a:cubicBezTo>
              </a:path>
            </a:pathLst>
          </a:custGeom>
          <a:solidFill>
            <a:srgbClr val="049668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Box 21"/>
          <p:cNvSpPr/>
          <p:nvPr/>
        </p:nvSpPr>
        <p:spPr>
          <a:xfrm>
            <a:off x="4800600" y="3336840"/>
            <a:ext cx="503280" cy="50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084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-Bold"/>
                <a:ea typeface="Calibri-Bold"/>
              </a:rPr>
              <a:t>✓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Box 22"/>
          <p:cNvSpPr/>
          <p:nvPr/>
        </p:nvSpPr>
        <p:spPr>
          <a:xfrm>
            <a:off x="5394240" y="3292560"/>
            <a:ext cx="30178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58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200" spc="-1" strike="noStrike">
                <a:solidFill>
                  <a:srgbClr val="0e1e17"/>
                </a:solidFill>
                <a:latin typeface="Calibri-Bold"/>
                <a:ea typeface="Calibri-Bold"/>
              </a:rPr>
              <a:t>KPI зафиксированы в договоре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Box 23"/>
          <p:cNvSpPr/>
          <p:nvPr/>
        </p:nvSpPr>
        <p:spPr>
          <a:xfrm>
            <a:off x="5394240" y="3657600"/>
            <a:ext cx="3017880" cy="68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660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Минимальные пороги по росту и стоимости лида. Не выполняем — корректируем стоимость в вашу пользу</a:t>
            </a:r>
            <a:r>
              <a:rPr b="0" lang="en-US" sz="1000" spc="-1" strike="noStrike">
                <a:solidFill>
                  <a:srgbClr val="63746c"/>
                </a:solidFill>
                <a:latin typeface="Calibri"/>
                <a:ea typeface="Calibri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9" name="Picture 38" descr=""/>
          <p:cNvPicPr/>
          <p:nvPr/>
        </p:nvPicPr>
        <p:blipFill>
          <a:blip r:embed="rId1"/>
          <a:stretch/>
        </p:blipFill>
        <p:spPr>
          <a:xfrm>
            <a:off x="8140680" y="4033800"/>
            <a:ext cx="1003320" cy="981000"/>
          </a:xfrm>
          <a:prstGeom prst="rect">
            <a:avLst/>
          </a:prstGeom>
          <a:ln w="0">
            <a:noFill/>
          </a:ln>
        </p:spPr>
      </p:pic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 Box 1"/>
          <p:cNvSpPr/>
          <p:nvPr/>
        </p:nvSpPr>
        <p:spPr>
          <a:xfrm>
            <a:off x="457200" y="32076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000" spc="-1" strike="noStrike">
                <a:solidFill>
                  <a:srgbClr val="0fb981"/>
                </a:solidFill>
                <a:latin typeface="Calibri-Bold"/>
                <a:ea typeface="Calibri-Bold"/>
              </a:rPr>
              <a:t>ДОВЕРИЕ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Box 2"/>
          <p:cNvSpPr/>
          <p:nvPr/>
        </p:nvSpPr>
        <p:spPr>
          <a:xfrm>
            <a:off x="457200" y="639720"/>
            <a:ext cx="8229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98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2800" spc="-1" strike="noStrike">
                <a:solidFill>
                  <a:srgbClr val="0e1e17"/>
                </a:solidFill>
                <a:latin typeface="Calibri-Bold"/>
                <a:ea typeface="Calibri-Bold"/>
              </a:rPr>
              <a:t>Кто доверил нам комплекс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Box 3"/>
          <p:cNvSpPr/>
          <p:nvPr/>
        </p:nvSpPr>
        <p:spPr>
          <a:xfrm>
            <a:off x="7772400" y="320760"/>
            <a:ext cx="914400" cy="20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4440" bIns="45000" anchor="t">
            <a:noAutofit/>
          </a:bodyPr>
          <a:p>
            <a:pPr algn="r"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</a:tabLst>
            </a:pP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12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 / </a:t>
            </a:r>
            <a:r>
              <a:rPr b="0" lang="en-US" sz="900" spc="-1" strike="noStrike">
                <a:solidFill>
                  <a:srgbClr val="63746c"/>
                </a:solidFill>
                <a:latin typeface="Courier New"/>
                <a:ea typeface="Courier New"/>
              </a:rPr>
              <a:t>13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Box 4"/>
          <p:cNvSpPr/>
          <p:nvPr/>
        </p:nvSpPr>
        <p:spPr>
          <a:xfrm>
            <a:off x="457200" y="1692360"/>
            <a:ext cx="81374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092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63746c"/>
                </a:solidFill>
                <a:latin typeface="Calibri"/>
                <a:ea typeface="Calibri"/>
              </a:rPr>
              <a:t>Среди клиентов комплексного направления — компании, которые перешли с 3+ подрядчиков на единую команду</a:t>
            </a:r>
            <a:r>
              <a:rPr b="0" lang="en-US" sz="1200" spc="-1" strike="noStrike">
                <a:solidFill>
                  <a:srgbClr val="63746c"/>
                </a:solidFill>
                <a:latin typeface="Calibri"/>
                <a:ea typeface="Calibri"/>
              </a:rPr>
              <a:t>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Box 5"/>
          <p:cNvSpPr/>
          <p:nvPr/>
        </p:nvSpPr>
        <p:spPr>
          <a:xfrm>
            <a:off x="457200" y="4618080"/>
            <a:ext cx="8137440" cy="32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000" spc="-1" strike="noStrike">
                <a:solidFill>
                  <a:srgbClr val="0e1e17"/>
                </a:solidFill>
                <a:latin typeface="Calibri-Italic"/>
                <a:ea typeface="Calibri-Italic"/>
              </a:rPr>
              <a:t>→  </a:t>
            </a:r>
            <a:r>
              <a:rPr b="0" i="1" lang="en-US" sz="1000" spc="-1" strike="noStrike">
                <a:solidFill>
                  <a:srgbClr val="0e1e17"/>
                </a:solidFill>
                <a:latin typeface="Calibri-Italic"/>
                <a:ea typeface="Calibri-Italic"/>
              </a:rPr>
              <a:t>Контакты для рекомендаций предоставляем после знакомства — клиенты сами расскажут, как мы работаем</a:t>
            </a:r>
            <a:r>
              <a:rPr b="0" i="1" lang="en-US" sz="1000" spc="-1" strike="noStrike">
                <a:solidFill>
                  <a:srgbClr val="0e1e17"/>
                </a:solidFill>
                <a:latin typeface="Calibri-Italic"/>
                <a:ea typeface="Calibri-Ital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Picture 6" descr=""/>
          <p:cNvPicPr/>
          <p:nvPr/>
        </p:nvPicPr>
        <p:blipFill>
          <a:blip r:embed="rId1"/>
          <a:stretch/>
        </p:blipFill>
        <p:spPr>
          <a:xfrm>
            <a:off x="2944800" y="1955880"/>
            <a:ext cx="2857680" cy="1231920"/>
          </a:xfrm>
          <a:prstGeom prst="rect">
            <a:avLst/>
          </a:prstGeom>
          <a:ln w="0">
            <a:noFill/>
          </a:ln>
        </p:spPr>
      </p:pic>
      <p:pic>
        <p:nvPicPr>
          <p:cNvPr id="276" name="Picture 7" descr=""/>
          <p:cNvPicPr/>
          <p:nvPr/>
        </p:nvPicPr>
        <p:blipFill>
          <a:blip r:embed="rId2"/>
          <a:stretch/>
        </p:blipFill>
        <p:spPr>
          <a:xfrm>
            <a:off x="463680" y="2125800"/>
            <a:ext cx="2546280" cy="892080"/>
          </a:xfrm>
          <a:prstGeom prst="rect">
            <a:avLst/>
          </a:prstGeom>
          <a:ln w="0">
            <a:noFill/>
          </a:ln>
        </p:spPr>
      </p:pic>
      <p:pic>
        <p:nvPicPr>
          <p:cNvPr id="277" name="Picture 8" descr=""/>
          <p:cNvPicPr/>
          <p:nvPr/>
        </p:nvPicPr>
        <p:blipFill>
          <a:blip r:embed="rId3"/>
          <a:stretch/>
        </p:blipFill>
        <p:spPr>
          <a:xfrm>
            <a:off x="5486400" y="2141640"/>
            <a:ext cx="2762280" cy="861840"/>
          </a:xfrm>
          <a:prstGeom prst="rect">
            <a:avLst/>
          </a:prstGeom>
          <a:ln w="0">
            <a:noFill/>
          </a:ln>
        </p:spPr>
      </p:pic>
      <p:pic>
        <p:nvPicPr>
          <p:cNvPr id="278" name="Picture 9" descr=""/>
          <p:cNvPicPr/>
          <p:nvPr/>
        </p:nvPicPr>
        <p:blipFill>
          <a:blip r:embed="rId4"/>
          <a:stretch/>
        </p:blipFill>
        <p:spPr>
          <a:xfrm>
            <a:off x="460440" y="3130560"/>
            <a:ext cx="2597040" cy="1231920"/>
          </a:xfrm>
          <a:prstGeom prst="rect">
            <a:avLst/>
          </a:prstGeom>
          <a:ln w="0">
            <a:noFill/>
          </a:ln>
        </p:spPr>
      </p:pic>
      <p:pic>
        <p:nvPicPr>
          <p:cNvPr id="279" name="Picture 10" descr=""/>
          <p:cNvPicPr/>
          <p:nvPr/>
        </p:nvPicPr>
        <p:blipFill>
          <a:blip r:embed="rId5"/>
          <a:stretch/>
        </p:blipFill>
        <p:spPr>
          <a:xfrm>
            <a:off x="3141720" y="3130560"/>
            <a:ext cx="2190600" cy="1231920"/>
          </a:xfrm>
          <a:prstGeom prst="rect">
            <a:avLst/>
          </a:prstGeom>
          <a:ln w="0">
            <a:noFill/>
          </a:ln>
        </p:spPr>
      </p:pic>
      <p:pic>
        <p:nvPicPr>
          <p:cNvPr id="280" name="Picture 11" descr=""/>
          <p:cNvPicPr/>
          <p:nvPr/>
        </p:nvPicPr>
        <p:blipFill>
          <a:blip r:embed="rId6"/>
          <a:stretch/>
        </p:blipFill>
        <p:spPr>
          <a:xfrm>
            <a:off x="5416560" y="3130560"/>
            <a:ext cx="3182760" cy="1231920"/>
          </a:xfrm>
          <a:prstGeom prst="rect">
            <a:avLst/>
          </a:prstGeom>
          <a:ln w="0">
            <a:noFill/>
          </a:ln>
        </p:spPr>
      </p:pic>
      <p:pic>
        <p:nvPicPr>
          <p:cNvPr id="281" name="Picture 38" descr=""/>
          <p:cNvPicPr/>
          <p:nvPr/>
        </p:nvPicPr>
        <p:blipFill>
          <a:blip r:embed="rId7"/>
          <a:stretch/>
        </p:blipFill>
        <p:spPr>
          <a:xfrm>
            <a:off x="8140680" y="4111560"/>
            <a:ext cx="1003320" cy="982800"/>
          </a:xfrm>
          <a:prstGeom prst="rect">
            <a:avLst/>
          </a:prstGeom>
          <a:ln w="0">
            <a:noFill/>
          </a:ln>
        </p:spPr>
      </p:pic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91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Freeform 1"/>
          <p:cNvSpPr/>
          <p:nvPr/>
        </p:nvSpPr>
        <p:spPr>
          <a:xfrm>
            <a:off x="0" y="0"/>
            <a:ext cx="138240" cy="5143680"/>
          </a:xfrm>
          <a:custGeom>
            <a:avLst/>
            <a:gdLst/>
            <a:ahLst/>
            <a:rect l="l" t="t" r="r" b="b"/>
            <a:pathLst>
              <a:path w="383" h="14289">
                <a:moveTo>
                  <a:pt x="0" y="0"/>
                </a:moveTo>
                <a:lnTo>
                  <a:pt x="382" y="0"/>
                </a:lnTo>
                <a:lnTo>
                  <a:pt x="382" y="14288"/>
                </a:lnTo>
                <a:lnTo>
                  <a:pt x="0" y="14288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Box 2"/>
          <p:cNvSpPr/>
          <p:nvPr/>
        </p:nvSpPr>
        <p:spPr>
          <a:xfrm>
            <a:off x="549360" y="639720"/>
            <a:ext cx="73152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72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100" spc="-1" strike="noStrike">
                <a:solidFill>
                  <a:srgbClr val="0fb981"/>
                </a:solidFill>
                <a:latin typeface="Calibri-Bold"/>
                <a:ea typeface="Calibri-Bold"/>
              </a:rPr>
              <a:t>ЧТО ДАЛЬШЕ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Box 3"/>
          <p:cNvSpPr/>
          <p:nvPr/>
        </p:nvSpPr>
        <p:spPr>
          <a:xfrm>
            <a:off x="549360" y="1050840"/>
            <a:ext cx="8047080" cy="17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344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Один разговор может изменить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libri-Bold"/>
                <a:ea typeface="Calibri-Bold"/>
              </a:rPr>
              <a:t>устройство вашего маркетинга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 Box 4"/>
          <p:cNvSpPr/>
          <p:nvPr/>
        </p:nvSpPr>
        <p:spPr>
          <a:xfrm>
            <a:off x="549360" y="2925720"/>
            <a:ext cx="80470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524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60</a:t>
            </a: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-</a:t>
            </a: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минутный аудит-звонок: вы рассказываете, как сейчас устроен маркетинг</a:t>
            </a: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 —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мы показываем, что можно консолидировать и сколько вы на этом сэкономите</a:t>
            </a:r>
            <a:r>
              <a:rPr b="0" lang="en-US" sz="1400" spc="-1" strike="noStrike">
                <a:solidFill>
                  <a:srgbClr val="9dafa5"/>
                </a:solidFill>
                <a:latin typeface="Calibri"/>
                <a:ea typeface="Calibri"/>
              </a:rPr>
              <a:t>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Freeform 5"/>
          <p:cNvSpPr/>
          <p:nvPr/>
        </p:nvSpPr>
        <p:spPr>
          <a:xfrm>
            <a:off x="549360" y="3840120"/>
            <a:ext cx="3657600" cy="387360"/>
          </a:xfrm>
          <a:custGeom>
            <a:avLst/>
            <a:gdLst/>
            <a:ahLst/>
            <a:rect l="l" t="t" r="r" b="b"/>
            <a:pathLst>
              <a:path w="10162" h="1653">
                <a:moveTo>
                  <a:pt x="0" y="0"/>
                </a:moveTo>
                <a:lnTo>
                  <a:pt x="10161" y="0"/>
                </a:lnTo>
                <a:lnTo>
                  <a:pt x="10161" y="1652"/>
                </a:lnTo>
                <a:lnTo>
                  <a:pt x="0" y="1652"/>
                </a:lnTo>
                <a:lnTo>
                  <a:pt x="0" y="0"/>
                </a:lnTo>
              </a:path>
            </a:pathLst>
          </a:custGeom>
          <a:solidFill>
            <a:srgbClr val="0fb981"/>
          </a:solidFill>
          <a:ln w="0">
            <a:noFill/>
          </a:ln>
          <a:effectLst>
            <a:outerShdw dist="0" dir="0" blurRad="0" rotWithShape="0">
              <a:srgbClr val="000000">
                <a:alpha val="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Box 6"/>
          <p:cNvSpPr/>
          <p:nvPr/>
        </p:nvSpPr>
        <p:spPr>
          <a:xfrm>
            <a:off x="547560" y="3863880"/>
            <a:ext cx="365760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7600" bIns="45000" anchor="t">
            <a:noAutofit/>
          </a:bodyPr>
          <a:p>
            <a:pPr algn="ctr"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1" lang="en-US" sz="1400" spc="-1" strike="noStrike">
                <a:solidFill>
                  <a:srgbClr val="091913"/>
                </a:solidFill>
                <a:latin typeface="Calibri-Bold"/>
                <a:ea typeface="Calibri-Bold"/>
              </a:rPr>
              <a:t>Записаться на разбор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Box 7"/>
          <p:cNvSpPr/>
          <p:nvPr/>
        </p:nvSpPr>
        <p:spPr>
          <a:xfrm>
            <a:off x="4389480" y="3840120"/>
            <a:ext cx="42069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0920" bIns="45000" anchor="t">
            <a:noAutofit/>
          </a:bodyPr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ответ в течение 1 рабочего дня</a:t>
            </a: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 —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rtl="1">
              <a:lnSpc>
                <a:spcPct val="8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в удобный для вас формат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Box 8"/>
          <p:cNvSpPr/>
          <p:nvPr/>
        </p:nvSpPr>
        <p:spPr>
          <a:xfrm>
            <a:off x="549360" y="4618080"/>
            <a:ext cx="8047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54000" bIns="45000" anchor="t">
            <a:noAutofit/>
          </a:bodyPr>
          <a:p>
            <a:pPr rtl="1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  <a:tab algn="l" pos="9601200"/>
                <a:tab algn="l" pos="10058400"/>
                <a:tab algn="l" pos="10515600"/>
              </a:tabLst>
            </a:pPr>
            <a:r>
              <a:rPr b="0" i="1" lang="en-US" sz="1000" spc="-1" strike="noStrike">
                <a:solidFill>
                  <a:srgbClr val="0fb981"/>
                </a:solidFill>
                <a:latin typeface="Calibri-Italic"/>
                <a:ea typeface="Calibri-Italic"/>
              </a:rPr>
              <a:t>P.S. Берём в работу до 3 новых комплексных клиентов в квартал. Минимальный горизонт совместной работы — 6 месяцев</a:t>
            </a:r>
            <a:r>
              <a:rPr b="0" i="1" lang="en-US" sz="1000" spc="-1" strike="noStrike">
                <a:solidFill>
                  <a:srgbClr val="0fb981"/>
                </a:solidFill>
                <a:latin typeface="Calibri-Italic"/>
                <a:ea typeface="Calibri-Italic"/>
              </a:rPr>
              <a:t>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0" name="Picture 9" descr=""/>
          <p:cNvPicPr/>
          <p:nvPr/>
        </p:nvPicPr>
        <p:blipFill>
          <a:blip r:embed="rId1"/>
          <a:stretch/>
        </p:blipFill>
        <p:spPr>
          <a:xfrm>
            <a:off x="8005680" y="3975120"/>
            <a:ext cx="1206720" cy="1206360"/>
          </a:xfrm>
          <a:prstGeom prst="rect">
            <a:avLst/>
          </a:prstGeom>
          <a:ln w="0">
            <a:noFill/>
          </a:ln>
        </p:spPr>
      </p:pic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>Office</cp:lastModifiedBy>
  <dcterms:modified xsi:type="dcterms:W3CDTF">2026-04-30T09:42:28Z</dcterms:modified>
  <cp:revision>1</cp:revision>
  <dc:subject/>
  <dc:title/>
</cp:coreProperties>
</file>